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9" r:id="rId2"/>
    <p:sldId id="267" r:id="rId3"/>
    <p:sldId id="268" r:id="rId4"/>
    <p:sldId id="256" r:id="rId5"/>
    <p:sldId id="257" r:id="rId6"/>
    <p:sldId id="258" r:id="rId7"/>
    <p:sldId id="269" r:id="rId8"/>
    <p:sldId id="270" r:id="rId9"/>
    <p:sldId id="271" r:id="rId10"/>
    <p:sldId id="272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CF4A4B-8DAD-499D-A92B-D849CD60D731}" type="datetimeFigureOut">
              <a:rPr lang="en-ZA" smtClean="0"/>
              <a:t>2026/03/13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454460-84AC-4ECE-8B72-D669F785988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915537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454460-84AC-4ECE-8B72-D669F785988A}" type="slidenum">
              <a:rPr lang="en-ZA" smtClean="0"/>
              <a:t>10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6016010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77DCE-705F-7C97-21BE-94A728E753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81AB45-09B1-77E4-9708-86176879F3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38706E-958C-1FDC-66C2-DFB73F451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12919-DEAD-429E-B150-9ACF976B880F}" type="datetimeFigureOut">
              <a:rPr lang="en-ZA" smtClean="0"/>
              <a:t>2026/03/13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C6ADE9-748E-4FCF-70BF-9F7F63EC8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AD66A4-C383-A7DE-86F7-6A73EDB09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7E143-241A-4148-89F8-847B9447251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835790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8129B-2712-0097-46A1-90CF2904D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4B95A6-A73D-7C32-FFEE-2000351B89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C070CD-BFA1-BCB4-0861-51BA04070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12919-DEAD-429E-B150-9ACF976B880F}" type="datetimeFigureOut">
              <a:rPr lang="en-ZA" smtClean="0"/>
              <a:t>2026/03/13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9564AD-0666-3B94-D983-81E850E5D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1EF026-3C49-0473-23B4-841ADE0DB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7E143-241A-4148-89F8-847B9447251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0186814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183664-15E4-3682-AFA0-FE7C63A4B5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701398-B616-1508-E182-E1FB1502E3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211E9D-7369-71D9-72E3-C170756E3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12919-DEAD-429E-B150-9ACF976B880F}" type="datetimeFigureOut">
              <a:rPr lang="en-ZA" smtClean="0"/>
              <a:t>2026/03/13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673EC0-3470-67A7-91C7-DD531E22C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058B5E-2885-D537-4902-73BDABB9D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7E143-241A-4148-89F8-847B9447251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6774433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91E7C-5A3D-BBBD-ACBB-FDFC105EE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47B193-A496-6789-899C-5561EE52EE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71BAE7-FFE9-4266-CBC2-B3DF5B0DA4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35AAFE-95D4-D02F-6CF9-48898C9F9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12919-DEAD-429E-B150-9ACF976B880F}" type="datetimeFigureOut">
              <a:rPr lang="en-ZA" smtClean="0"/>
              <a:t>2026/03/13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8ECB9D-2C01-B82F-2DB6-239663052B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3A66B9-82D8-610A-D59F-3A409D750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7E143-241A-4148-89F8-847B9447251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5659448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B3F02-E208-8810-D505-E5D30064A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C0C911-0378-FCFE-645B-D54D653C39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CE45EB-5FEF-8792-C438-96CDB0371A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582D98-492A-2979-ED08-5BFC504769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03959D-7B1A-ACB4-D4C0-B793BEBD76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CABE86-822F-9E78-13B9-8C09643BC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12919-DEAD-429E-B150-9ACF976B880F}" type="datetimeFigureOut">
              <a:rPr lang="en-ZA" smtClean="0"/>
              <a:t>2026/03/13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A643B7-51D2-EE79-F28E-7550B4AE5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5E49889-F7F7-AAD4-21A2-67E2E5935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7E143-241A-4148-89F8-847B9447251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0382807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AC507-4A0A-7351-0751-AD711524C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FD9A6A-FFCC-5E17-44B3-EAD8A0327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12919-DEAD-429E-B150-9ACF976B880F}" type="datetimeFigureOut">
              <a:rPr lang="en-ZA" smtClean="0"/>
              <a:t>2026/03/13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1AA6F9-E7DE-38F1-2D98-2D0A3E55A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7A53EF-8EF7-28F2-E371-DF488B974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7E143-241A-4148-89F8-847B9447251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9791628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5FDCB6-AFB3-5C43-7369-CB82C2C1F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12919-DEAD-429E-B150-9ACF976B880F}" type="datetimeFigureOut">
              <a:rPr lang="en-ZA" smtClean="0"/>
              <a:t>2026/03/13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4A7F2EC-33DF-9354-09E3-7539F197A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77F3BA-C68B-4ED1-4C23-77DDB39E0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7E143-241A-4148-89F8-847B9447251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6962225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9A8E9D-9AE4-3C38-8CC2-696230928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1BEDF0-9DF2-6407-30F5-B5E2E5EFCC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992077-6622-ED2C-ED0F-CE57F67D65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8F6B41-6E8E-C9DC-482C-795B618C70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12919-DEAD-429E-B150-9ACF976B880F}" type="datetimeFigureOut">
              <a:rPr lang="en-ZA" smtClean="0"/>
              <a:t>2026/03/13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5111EF-5430-6566-A1D8-FD313BD34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B9A2F6-E950-1DA1-D405-73448D74E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7E143-241A-4148-89F8-847B9447251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6391179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FDF05-D612-B254-4DC2-FEC2AD9645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B28207-2798-0200-D195-2AE6448ED7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001949-4D6A-43BF-256C-1BEFD8F2CA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D6C741-E66E-BDBC-8C96-8EA469473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12919-DEAD-429E-B150-9ACF976B880F}" type="datetimeFigureOut">
              <a:rPr lang="en-ZA" smtClean="0"/>
              <a:t>2026/03/13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D9B7DA-BAF7-1CA2-7C34-729EDB2B1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146ECE-3984-EF40-35AE-39A32D104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7E143-241A-4148-89F8-847B9447251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3242651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9CE8B-D459-3DCE-3051-DBBF76F07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11F8F3-8456-2CC8-8DEB-72F7B86169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7DC0F9-9ECC-9A69-BDE0-9FF778445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12919-DEAD-429E-B150-9ACF976B880F}" type="datetimeFigureOut">
              <a:rPr lang="en-ZA" smtClean="0"/>
              <a:t>2026/03/13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2B7016-DF36-7A7A-8E0C-F53D145D5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11CADC-C875-0C21-E91B-9ECC9EE54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7E143-241A-4148-89F8-847B9447251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3792168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B185DF8-9C5E-AFC8-4373-68E05388E9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3B2661-01DA-3A3E-C7A2-720FBC9917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F36CC9-EC24-7544-2C93-C8B026E53E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12919-DEAD-429E-B150-9ACF976B880F}" type="datetimeFigureOut">
              <a:rPr lang="en-ZA" smtClean="0"/>
              <a:t>2026/03/13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46B9E5-31F8-A53D-E001-D964A2C57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9DCE20-60B2-F1C1-26DE-48AC584D8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7E143-241A-4148-89F8-847B9447251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0501865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5EAA33-B653-5DCC-43A8-BF2A41D72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074018-57E1-6356-5E78-1A3B9EFD66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9693CB-930C-82BC-ADBD-54B88F6EB6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212919-DEAD-429E-B150-9ACF976B880F}" type="datetimeFigureOut">
              <a:rPr lang="en-ZA" smtClean="0"/>
              <a:t>2026/03/13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296FD8-802B-6E44-38A7-806DDD740E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88B0B2-58E0-8DC4-E1DD-02F7326609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97E143-241A-4148-89F8-847B9447251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267689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group of men working on a power line&#10;&#10;AI-generated content may be incorrect.">
            <a:extLst>
              <a:ext uri="{FF2B5EF4-FFF2-40B4-BE49-F238E27FC236}">
                <a16:creationId xmlns:a16="http://schemas.microsoft.com/office/drawing/2014/main" id="{735238D8-50EF-2C24-4D2C-F95AC6F559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858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526954D-92E6-8061-3223-568C31CD3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875" y="5317240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Asset Maintenance – Specifications in Picture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3054B5-AC82-6632-C1FE-59C8B23C4EA2}"/>
              </a:ext>
            </a:extLst>
          </p:cNvPr>
          <p:cNvSpPr txBox="1"/>
          <p:nvPr/>
        </p:nvSpPr>
        <p:spPr>
          <a:xfrm>
            <a:off x="523875" y="310052"/>
            <a:ext cx="11210925" cy="120032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ZA" sz="3600" dirty="0"/>
              <a:t>118551</a:t>
            </a:r>
            <a:r>
              <a:rPr lang="fr-FR" sz="36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	</a:t>
            </a:r>
            <a:r>
              <a:rPr lang="en-ZA" sz="3600" dirty="0"/>
              <a:t>Asset Maintenance - Corrective Maintenance - Link Maintenance to an Asset on the Asset Register</a:t>
            </a:r>
            <a:endParaRPr lang="en-ZA" sz="3600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8897BE71-7BA2-AF93-26C8-A01979FBA3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381793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/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2E687C39-F6E5-1FF2-05ED-1637F3047F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381793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/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FEF7F108-BE4B-58E5-8FC1-024C349631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368141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1220220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E4EAA7E-7B46-88EB-30C5-2B55555574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180"/>
          <a:stretch/>
        </p:blipFill>
        <p:spPr>
          <a:xfrm>
            <a:off x="20" y="21290"/>
            <a:ext cx="12191980" cy="685671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545783A-EC7C-85A1-B707-DBE0EAE4647C}"/>
              </a:ext>
            </a:extLst>
          </p:cNvPr>
          <p:cNvSpPr txBox="1"/>
          <p:nvPr/>
        </p:nvSpPr>
        <p:spPr>
          <a:xfrm>
            <a:off x="141641" y="1115408"/>
            <a:ext cx="1514440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ZA" sz="1200" dirty="0"/>
              <a:t>Service Group</a:t>
            </a:r>
            <a:r>
              <a:rPr lang="en-ZA" sz="1200" dirty="0">
                <a:solidFill>
                  <a:srgbClr val="FF0000"/>
                </a:solidFill>
              </a:rPr>
              <a:t>*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24FD37-BED4-DD5D-792F-E49FADB60E7E}"/>
              </a:ext>
            </a:extLst>
          </p:cNvPr>
          <p:cNvSpPr txBox="1"/>
          <p:nvPr/>
        </p:nvSpPr>
        <p:spPr>
          <a:xfrm>
            <a:off x="141641" y="389068"/>
            <a:ext cx="3076687" cy="3385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ZA" sz="1600" dirty="0"/>
              <a:t>Maintenance Request - Add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03B149-55B1-4501-DCAA-49C6DE8A01EB}"/>
              </a:ext>
            </a:extLst>
          </p:cNvPr>
          <p:cNvSpPr txBox="1"/>
          <p:nvPr/>
        </p:nvSpPr>
        <p:spPr>
          <a:xfrm>
            <a:off x="6349401" y="2558128"/>
            <a:ext cx="1514440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ZA" sz="1200" dirty="0"/>
              <a:t>Request Date</a:t>
            </a:r>
            <a:r>
              <a:rPr lang="en-ZA" sz="1200" dirty="0">
                <a:solidFill>
                  <a:srgbClr val="FF0000"/>
                </a:solidFill>
              </a:rPr>
              <a:t>*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C87B9C5-1E41-396C-C760-8BA54D6D6D87}"/>
              </a:ext>
            </a:extLst>
          </p:cNvPr>
          <p:cNvSpPr txBox="1"/>
          <p:nvPr/>
        </p:nvSpPr>
        <p:spPr>
          <a:xfrm>
            <a:off x="8300121" y="2558128"/>
            <a:ext cx="1514440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ZA" sz="1200" dirty="0"/>
              <a:t>14/02/2025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70FB961-A9F1-AFC1-EC18-A4E68A87604E}"/>
              </a:ext>
            </a:extLst>
          </p:cNvPr>
          <p:cNvSpPr txBox="1"/>
          <p:nvPr/>
        </p:nvSpPr>
        <p:spPr>
          <a:xfrm>
            <a:off x="141641" y="3377312"/>
            <a:ext cx="1514440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ZA" sz="1200" dirty="0"/>
              <a:t>Lead Time</a:t>
            </a:r>
            <a:r>
              <a:rPr lang="en-ZA" sz="1200" dirty="0">
                <a:solidFill>
                  <a:srgbClr val="FF0000"/>
                </a:solidFill>
              </a:rPr>
              <a:t>*</a:t>
            </a:r>
          </a:p>
        </p:txBody>
      </p:sp>
      <p:pic>
        <p:nvPicPr>
          <p:cNvPr id="13" name="Picture 12" descr="A white rectangular object with black text&#10;&#10;AI-generated content may be incorrect.">
            <a:extLst>
              <a:ext uri="{FF2B5EF4-FFF2-40B4-BE49-F238E27FC236}">
                <a16:creationId xmlns:a16="http://schemas.microsoft.com/office/drawing/2014/main" id="{F677C733-FCC0-8E0E-5A2E-6F801C618C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9466" y="3171554"/>
            <a:ext cx="3563734" cy="55619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4B77BB1-64DF-7298-EF7D-F5E9E9149B0D}"/>
              </a:ext>
            </a:extLst>
          </p:cNvPr>
          <p:cNvSpPr txBox="1"/>
          <p:nvPr/>
        </p:nvSpPr>
        <p:spPr>
          <a:xfrm>
            <a:off x="6349401" y="3311149"/>
            <a:ext cx="1514440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ZA" sz="1200" dirty="0"/>
              <a:t>Proposed Closing Time</a:t>
            </a:r>
            <a:r>
              <a:rPr lang="en-ZA" sz="1200" dirty="0">
                <a:solidFill>
                  <a:srgbClr val="FF0000"/>
                </a:solidFill>
              </a:rPr>
              <a:t>*</a:t>
            </a:r>
          </a:p>
        </p:txBody>
      </p:sp>
      <p:pic>
        <p:nvPicPr>
          <p:cNvPr id="16" name="Picture 15" descr="A close up of a logo&#10;&#10;AI-generated content may be incorrect.">
            <a:extLst>
              <a:ext uri="{FF2B5EF4-FFF2-40B4-BE49-F238E27FC236}">
                <a16:creationId xmlns:a16="http://schemas.microsoft.com/office/drawing/2014/main" id="{E194A7B0-C26D-B6E5-A971-E3DE2E5BE10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8987" y="6158506"/>
            <a:ext cx="2251784" cy="60586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1075046-9071-B56F-C093-2E3A4B8BA0F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8368" y="4514877"/>
            <a:ext cx="3033023" cy="80779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4545201A-3FA8-57F5-549C-D621C6F0E9A7}"/>
              </a:ext>
            </a:extLst>
          </p:cNvPr>
          <p:cNvSpPr txBox="1"/>
          <p:nvPr/>
        </p:nvSpPr>
        <p:spPr>
          <a:xfrm>
            <a:off x="83352" y="4007492"/>
            <a:ext cx="2202648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ZA" sz="1200" dirty="0"/>
              <a:t>Maintenance Description</a:t>
            </a:r>
            <a:r>
              <a:rPr lang="en-ZA" sz="1200" dirty="0">
                <a:solidFill>
                  <a:srgbClr val="FF0000"/>
                </a:solidFill>
              </a:rPr>
              <a:t>*</a:t>
            </a:r>
          </a:p>
        </p:txBody>
      </p:sp>
      <p:pic>
        <p:nvPicPr>
          <p:cNvPr id="21" name="Picture 20" descr="A white rectangle with black lines&#10;&#10;AI-generated content may be incorrect.">
            <a:extLst>
              <a:ext uri="{FF2B5EF4-FFF2-40B4-BE49-F238E27FC236}">
                <a16:creationId xmlns:a16="http://schemas.microsoft.com/office/drawing/2014/main" id="{756CA1DA-5923-264E-59A2-DFF0AB9B297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970"/>
          <a:stretch/>
        </p:blipFill>
        <p:spPr>
          <a:xfrm>
            <a:off x="2194560" y="3774770"/>
            <a:ext cx="9438640" cy="1348127"/>
          </a:xfrm>
          <a:prstGeom prst="rect">
            <a:avLst/>
          </a:prstGeom>
        </p:spPr>
      </p:pic>
      <p:pic>
        <p:nvPicPr>
          <p:cNvPr id="23" name="Picture 22" descr="A white background with black and white clouds&#10;&#10;AI-generated content may be incorrect.">
            <a:extLst>
              <a:ext uri="{FF2B5EF4-FFF2-40B4-BE49-F238E27FC236}">
                <a16:creationId xmlns:a16="http://schemas.microsoft.com/office/drawing/2014/main" id="{F41E6388-82AB-7937-350A-E42EF539936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49347"/>
            <a:ext cx="2735817" cy="51820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A2AD60EC-07D7-4B26-E5CE-DBBED538140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52" y="4828888"/>
            <a:ext cx="6079658" cy="64719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8A35B9CE-63E0-4D16-80B9-3699C12FFF1B}"/>
              </a:ext>
            </a:extLst>
          </p:cNvPr>
          <p:cNvSpPr txBox="1"/>
          <p:nvPr/>
        </p:nvSpPr>
        <p:spPr>
          <a:xfrm>
            <a:off x="165544" y="5035653"/>
            <a:ext cx="1514440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ZA" sz="1200" dirty="0"/>
              <a:t>Capturer</a:t>
            </a:r>
            <a:r>
              <a:rPr lang="en-ZA" sz="1200" dirty="0">
                <a:solidFill>
                  <a:srgbClr val="FF0000"/>
                </a:solidFill>
              </a:rPr>
              <a:t>*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501AB09D-D044-A475-0C84-6E56F2BD151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8429" y="5512454"/>
            <a:ext cx="3678460" cy="396274"/>
          </a:xfrm>
          <a:prstGeom prst="rect">
            <a:avLst/>
          </a:prstGeom>
        </p:spPr>
      </p:pic>
      <p:pic>
        <p:nvPicPr>
          <p:cNvPr id="30" name="Picture 29" descr="A close up of a sign&#10;&#10;AI-generated content may be incorrect.">
            <a:extLst>
              <a:ext uri="{FF2B5EF4-FFF2-40B4-BE49-F238E27FC236}">
                <a16:creationId xmlns:a16="http://schemas.microsoft.com/office/drawing/2014/main" id="{C94BFCA3-0DF6-18C9-0087-CC08CB04A91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4553" y="5454499"/>
            <a:ext cx="3479799" cy="427776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64B3C35D-A1EC-9BE3-36B3-59B202ACDBC3}"/>
              </a:ext>
            </a:extLst>
          </p:cNvPr>
          <p:cNvSpPr txBox="1"/>
          <p:nvPr/>
        </p:nvSpPr>
        <p:spPr>
          <a:xfrm>
            <a:off x="141640" y="5513090"/>
            <a:ext cx="2144359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ZA" sz="1200" dirty="0"/>
              <a:t>Proposed Budget</a:t>
            </a:r>
            <a:r>
              <a:rPr lang="en-ZA" sz="1200" dirty="0">
                <a:solidFill>
                  <a:srgbClr val="FF0000"/>
                </a:solidFill>
              </a:rPr>
              <a:t>*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96F0594-19E6-D97E-FC06-B0434084549F}"/>
              </a:ext>
            </a:extLst>
          </p:cNvPr>
          <p:cNvSpPr txBox="1"/>
          <p:nvPr/>
        </p:nvSpPr>
        <p:spPr>
          <a:xfrm>
            <a:off x="6349400" y="5521058"/>
            <a:ext cx="1950721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ZA" sz="1200" dirty="0"/>
              <a:t>SCOA Item Description</a:t>
            </a:r>
            <a:r>
              <a:rPr lang="en-ZA" sz="1200" dirty="0">
                <a:solidFill>
                  <a:srgbClr val="FF0000"/>
                </a:solidFill>
              </a:rPr>
              <a:t>*</a:t>
            </a:r>
          </a:p>
        </p:txBody>
      </p:sp>
      <p:pic>
        <p:nvPicPr>
          <p:cNvPr id="2" name="Picture 1" descr="A white rectangular object with black text&#10;&#10;AI-generated content may be incorrect.">
            <a:extLst>
              <a:ext uri="{FF2B5EF4-FFF2-40B4-BE49-F238E27FC236}">
                <a16:creationId xmlns:a16="http://schemas.microsoft.com/office/drawing/2014/main" id="{1D905405-5BBF-76B7-BFF9-72D18B60B0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0038" y="4855715"/>
            <a:ext cx="3563734" cy="55619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3B7B07F-48A2-4E1A-036D-CD1F0EE50B2C}"/>
              </a:ext>
            </a:extLst>
          </p:cNvPr>
          <p:cNvSpPr txBox="1"/>
          <p:nvPr/>
        </p:nvSpPr>
        <p:spPr>
          <a:xfrm>
            <a:off x="2167154" y="2763228"/>
            <a:ext cx="7817298" cy="181588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4762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ZA" sz="2800" dirty="0"/>
              <a:t>Once a Maintenance request is Submitted, the user must be able to link to Request to an Asset on the Asset Register or select the asset from a spatial platform.</a:t>
            </a:r>
          </a:p>
        </p:txBody>
      </p:sp>
    </p:spTree>
    <p:extLst>
      <p:ext uri="{BB962C8B-B14F-4D97-AF65-F5344CB8AC3E}">
        <p14:creationId xmlns:p14="http://schemas.microsoft.com/office/powerpoint/2010/main" val="16086723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06F957-2894-1A43-D489-8D6DBAA983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D8EB4B6C-5FDD-54F5-8AA9-0ACE068EAFDC}"/>
              </a:ext>
            </a:extLst>
          </p:cNvPr>
          <p:cNvGrpSpPr/>
          <p:nvPr/>
        </p:nvGrpSpPr>
        <p:grpSpPr>
          <a:xfrm>
            <a:off x="1278082" y="1745336"/>
            <a:ext cx="9635836" cy="3799730"/>
            <a:chOff x="1278082" y="1745336"/>
            <a:chExt cx="9635836" cy="3799730"/>
          </a:xfrm>
        </p:grpSpPr>
        <p:pic>
          <p:nvPicPr>
            <p:cNvPr id="5" name="Picture 4" descr="A screenshot of a computer&#10;&#10;AI-generated content may be incorrect.">
              <a:extLst>
                <a:ext uri="{FF2B5EF4-FFF2-40B4-BE49-F238E27FC236}">
                  <a16:creationId xmlns:a16="http://schemas.microsoft.com/office/drawing/2014/main" id="{52D44B79-6367-C5AD-F3F1-030BDA91498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44" r="2131" b="35617"/>
            <a:stretch/>
          </p:blipFill>
          <p:spPr>
            <a:xfrm>
              <a:off x="1278082" y="1745336"/>
              <a:ext cx="4817918" cy="2420264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37854D0-512A-92F8-82AA-BA78ABCBEA8A}"/>
                </a:ext>
              </a:extLst>
            </p:cNvPr>
            <p:cNvSpPr txBox="1"/>
            <p:nvPr/>
          </p:nvSpPr>
          <p:spPr>
            <a:xfrm>
              <a:off x="1278082" y="3129105"/>
              <a:ext cx="4817918" cy="369332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ZA" dirty="0">
                  <a:solidFill>
                    <a:schemeClr val="bg1">
                      <a:lumMod val="95000"/>
                    </a:schemeClr>
                  </a:solidFill>
                </a:rPr>
                <a:t>Planned Maintenance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74D1795-A030-5C3A-5A0A-F3AA53EA3D00}"/>
                </a:ext>
              </a:extLst>
            </p:cNvPr>
            <p:cNvSpPr txBox="1"/>
            <p:nvPr/>
          </p:nvSpPr>
          <p:spPr>
            <a:xfrm>
              <a:off x="1278082" y="3685881"/>
              <a:ext cx="4817918" cy="369332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ZA" dirty="0">
                  <a:solidFill>
                    <a:schemeClr val="bg1">
                      <a:lumMod val="95000"/>
                    </a:schemeClr>
                  </a:solidFill>
                </a:rPr>
                <a:t>Reactive Maintenance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D734B73-3B80-41AA-98C7-5E458396C67A}"/>
                </a:ext>
              </a:extLst>
            </p:cNvPr>
            <p:cNvSpPr txBox="1"/>
            <p:nvPr/>
          </p:nvSpPr>
          <p:spPr>
            <a:xfrm>
              <a:off x="6096000" y="3685881"/>
              <a:ext cx="4817918" cy="369332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ZA" dirty="0">
                  <a:solidFill>
                    <a:schemeClr val="bg1">
                      <a:lumMod val="95000"/>
                    </a:schemeClr>
                  </a:solidFill>
                </a:rPr>
                <a:t>Capture Maintenance Request</a:t>
              </a:r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05776DC9-42B9-DD8C-1C7A-2E4509176B7A}"/>
                </a:ext>
              </a:extLst>
            </p:cNvPr>
            <p:cNvSpPr txBox="1"/>
            <p:nvPr/>
          </p:nvSpPr>
          <p:spPr>
            <a:xfrm>
              <a:off x="6096000" y="4057991"/>
              <a:ext cx="4817918" cy="369332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ZA" dirty="0">
                  <a:solidFill>
                    <a:schemeClr val="bg1">
                      <a:lumMod val="95000"/>
                    </a:schemeClr>
                  </a:solidFill>
                </a:rPr>
                <a:t>Link Maintenance Request to an Existing Asset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EDAB363D-1663-FE6F-5056-4AAC26E02BD4}"/>
                </a:ext>
              </a:extLst>
            </p:cNvPr>
            <p:cNvSpPr txBox="1"/>
            <p:nvPr/>
          </p:nvSpPr>
          <p:spPr>
            <a:xfrm>
              <a:off x="6096000" y="4437070"/>
              <a:ext cx="4817918" cy="369332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ZA" dirty="0">
                  <a:solidFill>
                    <a:schemeClr val="bg1">
                      <a:lumMod val="95000"/>
                    </a:schemeClr>
                  </a:solidFill>
                </a:rPr>
                <a:t>Approve  Maintenance Request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C319CD74-DB84-3E4E-D426-FA6F169D3E07}"/>
                </a:ext>
              </a:extLst>
            </p:cNvPr>
            <p:cNvSpPr txBox="1"/>
            <p:nvPr/>
          </p:nvSpPr>
          <p:spPr>
            <a:xfrm>
              <a:off x="6096000" y="4806402"/>
              <a:ext cx="4817918" cy="369332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ZA" dirty="0">
                  <a:solidFill>
                    <a:schemeClr val="bg1">
                      <a:lumMod val="95000"/>
                    </a:schemeClr>
                  </a:solidFill>
                </a:rPr>
                <a:t>Create Work Order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07C5FA2-37F7-9989-D63E-2F2E3B42DF8A}"/>
                </a:ext>
              </a:extLst>
            </p:cNvPr>
            <p:cNvSpPr txBox="1"/>
            <p:nvPr/>
          </p:nvSpPr>
          <p:spPr>
            <a:xfrm>
              <a:off x="6096000" y="5175734"/>
              <a:ext cx="4817918" cy="369332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ZA" dirty="0">
                  <a:solidFill>
                    <a:schemeClr val="bg1">
                      <a:lumMod val="95000"/>
                    </a:schemeClr>
                  </a:solidFill>
                </a:rPr>
                <a:t>Manage Work Order</a:t>
              </a:r>
            </a:p>
          </p:txBody>
        </p:sp>
      </p:grp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AC1FEE5-1496-A664-4925-C561C5521D72}"/>
              </a:ext>
            </a:extLst>
          </p:cNvPr>
          <p:cNvSpPr/>
          <p:nvPr/>
        </p:nvSpPr>
        <p:spPr>
          <a:xfrm>
            <a:off x="5981699" y="3980934"/>
            <a:ext cx="5038725" cy="479719"/>
          </a:xfrm>
          <a:prstGeom prst="roundRect">
            <a:avLst/>
          </a:prstGeom>
          <a:noFill/>
          <a:ln w="539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050119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FFDAD33-53CC-F6BB-1287-BE9C49DF5A78}"/>
              </a:ext>
            </a:extLst>
          </p:cNvPr>
          <p:cNvSpPr txBox="1"/>
          <p:nvPr/>
        </p:nvSpPr>
        <p:spPr>
          <a:xfrm>
            <a:off x="495300" y="400050"/>
            <a:ext cx="112585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1600" dirty="0"/>
              <a:t>When the Maintenance request was submitted and the user opened the “Link Maintenance Request to an Existing Asset”, the following screen must display”</a:t>
            </a: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CB54D58-F81E-136C-7A28-A0270EEB70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94410"/>
            <a:ext cx="12192000" cy="181291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7BC97C2-BDCC-9432-4B74-CDE348367125}"/>
              </a:ext>
            </a:extLst>
          </p:cNvPr>
          <p:cNvSpPr txBox="1"/>
          <p:nvPr/>
        </p:nvSpPr>
        <p:spPr>
          <a:xfrm>
            <a:off x="294290" y="1996966"/>
            <a:ext cx="4593020" cy="37837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ZA" dirty="0"/>
              <a:t>Maintenance Requests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1BB22F9-0A01-17CF-6F50-FD3A6CEDE1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352" y="2684923"/>
            <a:ext cx="2278448" cy="27651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1FD4F60-B52D-21BF-1DD0-F2A54A8CACE6}"/>
              </a:ext>
            </a:extLst>
          </p:cNvPr>
          <p:cNvSpPr txBox="1"/>
          <p:nvPr/>
        </p:nvSpPr>
        <p:spPr>
          <a:xfrm>
            <a:off x="495300" y="2668501"/>
            <a:ext cx="35243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1400" dirty="0"/>
              <a:t>Logged Maintenance Requests Summary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B207607-D7EC-02BE-2F29-05B27DDCEE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8852" y="2727919"/>
            <a:ext cx="2027096" cy="19051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959E3042-9FD5-EBC3-E4AB-A1F6F3C485EE}"/>
              </a:ext>
            </a:extLst>
          </p:cNvPr>
          <p:cNvSpPr txBox="1"/>
          <p:nvPr/>
        </p:nvSpPr>
        <p:spPr>
          <a:xfrm>
            <a:off x="4291042" y="2668501"/>
            <a:ext cx="36947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1400" dirty="0"/>
              <a:t>Link Maintenance Request to an Asset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F48EC58F-C1B9-237E-4368-72E854C99CC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9966" y="2755279"/>
            <a:ext cx="2149026" cy="220999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4BC1FBE2-1786-10D3-38DD-545A09869B95}"/>
              </a:ext>
            </a:extLst>
          </p:cNvPr>
          <p:cNvSpPr txBox="1"/>
          <p:nvPr/>
        </p:nvSpPr>
        <p:spPr>
          <a:xfrm>
            <a:off x="8184931" y="2651138"/>
            <a:ext cx="36947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1400" dirty="0"/>
              <a:t>Approve Maintenance Request</a:t>
            </a:r>
          </a:p>
        </p:txBody>
      </p:sp>
    </p:spTree>
    <p:extLst>
      <p:ext uri="{BB962C8B-B14F-4D97-AF65-F5344CB8AC3E}">
        <p14:creationId xmlns:p14="http://schemas.microsoft.com/office/powerpoint/2010/main" val="11442612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950EE6-7F6C-1036-C5BE-E9A761B3A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1A199AC-A480-9C2C-E7B6-C651B6CD434B}"/>
              </a:ext>
            </a:extLst>
          </p:cNvPr>
          <p:cNvSpPr txBox="1"/>
          <p:nvPr/>
        </p:nvSpPr>
        <p:spPr>
          <a:xfrm>
            <a:off x="4714240" y="467360"/>
            <a:ext cx="7213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dirty="0"/>
              <a:t>On the Logged Maintenance Request, all maintenance requests submitted, must display in a grid.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7DCAC467-05BD-EFDE-CCB0-2C38B6D9F0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3500" y="1910080"/>
            <a:ext cx="748145" cy="413154"/>
          </a:xfrm>
          <a:prstGeom prst="rect">
            <a:avLst/>
          </a:prstGeom>
        </p:spPr>
      </p:pic>
      <p:pic>
        <p:nvPicPr>
          <p:cNvPr id="22" name="Picture 21" descr="A screen shot of a computer screen&#10;&#10;AI-generated content may be incorrect.">
            <a:extLst>
              <a:ext uri="{FF2B5EF4-FFF2-40B4-BE49-F238E27FC236}">
                <a16:creationId xmlns:a16="http://schemas.microsoft.com/office/drawing/2014/main" id="{8EFC0E79-255B-18AA-0BA1-4AC76975B3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9134"/>
            <a:ext cx="4421082" cy="1910080"/>
          </a:xfrm>
          <a:prstGeom prst="rect">
            <a:avLst/>
          </a:prstGeom>
        </p:spPr>
      </p:pic>
      <p:pic>
        <p:nvPicPr>
          <p:cNvPr id="24" name="Picture 23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A3D3264D-6CEC-2B57-1E1A-CDBE227812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02" y="2443348"/>
            <a:ext cx="12040643" cy="3048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95202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067910-CD06-E051-BA17-F3CFAA8A3B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9361E39-B813-2801-602E-2DBFA12577E4}"/>
              </a:ext>
            </a:extLst>
          </p:cNvPr>
          <p:cNvSpPr txBox="1"/>
          <p:nvPr/>
        </p:nvSpPr>
        <p:spPr>
          <a:xfrm>
            <a:off x="640080" y="538480"/>
            <a:ext cx="108712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dirty="0"/>
              <a:t>Grid Specifications - </a:t>
            </a:r>
          </a:p>
          <a:p>
            <a:endParaRPr lang="en-ZA" dirty="0"/>
          </a:p>
          <a:p>
            <a:pPr marL="342900" indent="-342900">
              <a:buAutoNum type="arabicPeriod"/>
            </a:pPr>
            <a:r>
              <a:rPr lang="en-ZA" dirty="0"/>
              <a:t>The Grid must populate from the Maintenance requests that were captured and submitted.</a:t>
            </a:r>
          </a:p>
          <a:p>
            <a:pPr marL="342900" indent="-342900">
              <a:buAutoNum type="arabicPeriod"/>
            </a:pPr>
            <a:r>
              <a:rPr lang="en-ZA" dirty="0"/>
              <a:t>The system must populate a unique Maintenance Request Number</a:t>
            </a:r>
          </a:p>
          <a:p>
            <a:pPr marL="342900" indent="-342900">
              <a:buAutoNum type="arabicPeriod"/>
            </a:pPr>
            <a:r>
              <a:rPr lang="en-ZA" dirty="0"/>
              <a:t>When a new request was submitted, the status of the request must be automatically populated as “New”</a:t>
            </a:r>
          </a:p>
          <a:p>
            <a:pPr marL="342900" indent="-342900">
              <a:buAutoNum type="arabicPeriod"/>
            </a:pPr>
            <a:r>
              <a:rPr lang="en-US" dirty="0"/>
              <a:t>Service Group	Asset Type, Category, Sub-Category, Request Date, Lead Time (days), Proposed Closing Date, Maintenance Description and Capturer must populate from the Capture Maintenance Screen when submitted</a:t>
            </a:r>
          </a:p>
          <a:p>
            <a:pPr marL="342900" indent="-342900">
              <a:buAutoNum type="arabicPeriod"/>
            </a:pPr>
            <a:r>
              <a:rPr lang="en-US" dirty="0"/>
              <a:t>The User must be able to export the Grid information to Excel or a PDF</a:t>
            </a:r>
          </a:p>
          <a:p>
            <a:pPr marL="342900" indent="-342900">
              <a:buAutoNum type="arabicPeriod"/>
            </a:pPr>
            <a:r>
              <a:rPr lang="en-US" dirty="0"/>
              <a:t>The user must be able to select an asset from the grid to be displayed on the Link Maintenance Request to an Asset Screen</a:t>
            </a:r>
          </a:p>
          <a:p>
            <a:pPr marL="342900" indent="-342900">
              <a:buAutoNum type="arabicPeriod"/>
            </a:pPr>
            <a:r>
              <a:rPr lang="en-US" dirty="0"/>
              <a:t>When an Asset is Selected with a tick, the record must be displayed on the Link Maintenance Request to an Asset Screen</a:t>
            </a:r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AutoNum type="arabicPeriod"/>
            </a:pPr>
            <a:endParaRPr lang="en-ZA" dirty="0"/>
          </a:p>
          <a:p>
            <a:pPr marL="342900" indent="-342900">
              <a:buAutoNum type="arabicPeriod"/>
            </a:pPr>
            <a:endParaRPr lang="en-ZA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607276B-B622-F675-E6A2-1925364C50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27" y="4552211"/>
            <a:ext cx="12063505" cy="1021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94394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3E3F87-6EA7-4F10-88CD-8EDE2A789F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29E1A7B-9F67-A23D-B381-C46CF40417F0}"/>
              </a:ext>
            </a:extLst>
          </p:cNvPr>
          <p:cNvSpPr txBox="1"/>
          <p:nvPr/>
        </p:nvSpPr>
        <p:spPr>
          <a:xfrm>
            <a:off x="129023" y="1787479"/>
            <a:ext cx="10871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dirty="0"/>
              <a:t>When the User selects the Link Maintenance to an Asset, duplicate the grid from the Logged Maintenance Request Summary screen for the selected record</a:t>
            </a:r>
            <a:endParaRPr lang="en-US" dirty="0"/>
          </a:p>
        </p:txBody>
      </p:sp>
      <p:pic>
        <p:nvPicPr>
          <p:cNvPr id="4" name="Picture 3" descr="A grey and black box with black text&#10;&#10;AI-generated content may be incorrect.">
            <a:extLst>
              <a:ext uri="{FF2B5EF4-FFF2-40B4-BE49-F238E27FC236}">
                <a16:creationId xmlns:a16="http://schemas.microsoft.com/office/drawing/2014/main" id="{7A8958E0-4ADD-8A70-A9F6-726A4BA814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023" y="199423"/>
            <a:ext cx="9316191" cy="145156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41EACCE-9011-3659-9BF8-963DD782F645}"/>
              </a:ext>
            </a:extLst>
          </p:cNvPr>
          <p:cNvSpPr/>
          <p:nvPr/>
        </p:nvSpPr>
        <p:spPr>
          <a:xfrm>
            <a:off x="4830184" y="1129553"/>
            <a:ext cx="4722607" cy="374127"/>
          </a:xfrm>
          <a:prstGeom prst="round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F3E4799-3194-A39C-7084-300BA5D7B1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023" y="2474611"/>
            <a:ext cx="11961377" cy="779216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2E6447ED-0A03-FE4C-5D60-ADF7C12D3CE1}"/>
              </a:ext>
            </a:extLst>
          </p:cNvPr>
          <p:cNvGrpSpPr/>
          <p:nvPr/>
        </p:nvGrpSpPr>
        <p:grpSpPr>
          <a:xfrm>
            <a:off x="129023" y="3604174"/>
            <a:ext cx="7946672" cy="396590"/>
            <a:chOff x="227142" y="2275154"/>
            <a:chExt cx="7946672" cy="396590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DD4BC10-0E6E-E695-E8FF-E9449F1F028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463862" y="2305975"/>
              <a:ext cx="3709952" cy="365769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E150F537-4F61-807C-ACEB-E7B93F1FCB5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27142" y="2305975"/>
              <a:ext cx="3709952" cy="365769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79A744B-FF49-9A46-FF00-AE151EA7E9CB}"/>
                </a:ext>
              </a:extLst>
            </p:cNvPr>
            <p:cNvSpPr txBox="1"/>
            <p:nvPr/>
          </p:nvSpPr>
          <p:spPr>
            <a:xfrm>
              <a:off x="355600" y="2275154"/>
              <a:ext cx="3291840" cy="3657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ZA" dirty="0"/>
                <a:t>Link from Asset Register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252D737-4B53-F07A-2217-6D8589F57A24}"/>
                </a:ext>
              </a:extLst>
            </p:cNvPr>
            <p:cNvSpPr txBox="1"/>
            <p:nvPr/>
          </p:nvSpPr>
          <p:spPr>
            <a:xfrm>
              <a:off x="4463862" y="2305974"/>
              <a:ext cx="3291840" cy="3657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ZA" dirty="0"/>
                <a:t>Link from GIS</a:t>
              </a:r>
            </a:p>
          </p:txBody>
        </p:sp>
      </p:grpSp>
      <p:pic>
        <p:nvPicPr>
          <p:cNvPr id="16" name="Picture 15" descr="A white rectangular object with black letters&#10;&#10;AI-generated content may be incorrect.">
            <a:extLst>
              <a:ext uri="{FF2B5EF4-FFF2-40B4-BE49-F238E27FC236}">
                <a16:creationId xmlns:a16="http://schemas.microsoft.com/office/drawing/2014/main" id="{E5BD1E48-547F-7A75-40CE-4A4ABB670E1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481" y="4096156"/>
            <a:ext cx="3289738" cy="790803"/>
          </a:xfrm>
          <a:prstGeom prst="rect">
            <a:avLst/>
          </a:prstGeom>
        </p:spPr>
      </p:pic>
      <p:pic>
        <p:nvPicPr>
          <p:cNvPr id="18" name="Picture 17" descr="A white rectangular object with black letters&#10;&#10;AI-generated content may be incorrect.">
            <a:extLst>
              <a:ext uri="{FF2B5EF4-FFF2-40B4-BE49-F238E27FC236}">
                <a16:creationId xmlns:a16="http://schemas.microsoft.com/office/drawing/2014/main" id="{7B3ACB89-B6C5-BD04-D154-C928EAF62FF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5743" y="4125186"/>
            <a:ext cx="3396497" cy="816466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517D5B4F-160E-B9D3-018C-B0BE45E8A4B6}"/>
              </a:ext>
            </a:extLst>
          </p:cNvPr>
          <p:cNvSpPr txBox="1"/>
          <p:nvPr/>
        </p:nvSpPr>
        <p:spPr>
          <a:xfrm>
            <a:off x="129023" y="5021523"/>
            <a:ext cx="108712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dirty="0"/>
              <a:t>When the User selects the Link Maintenance From Asset Register, open the Asset register in a Grid (Use the Manage Asset Grid)</a:t>
            </a:r>
          </a:p>
          <a:p>
            <a:endParaRPr lang="en-ZA" dirty="0"/>
          </a:p>
          <a:p>
            <a:r>
              <a:rPr lang="en-ZA" dirty="0"/>
              <a:t>When the User Select the Link from GIS, open the map hyperlink</a:t>
            </a:r>
          </a:p>
          <a:p>
            <a:r>
              <a:rPr lang="en-ZA" dirty="0"/>
              <a:t>The Map hyperlink must be a setting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63099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0235302F-F3BA-70DE-C4F9-AF13D8CCF9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733" y="392383"/>
            <a:ext cx="3834779" cy="1415455"/>
          </a:xfrm>
          <a:prstGeom prst="rect">
            <a:avLst/>
          </a:prstGeo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9F057DE-7517-AB69-6149-FC3BC3EA9E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501" y="2208276"/>
            <a:ext cx="11426997" cy="464972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FFEB710-D007-907D-7159-B7C79BFB6E0B}"/>
              </a:ext>
            </a:extLst>
          </p:cNvPr>
          <p:cNvSpPr txBox="1"/>
          <p:nvPr/>
        </p:nvSpPr>
        <p:spPr>
          <a:xfrm>
            <a:off x="403733" y="1807838"/>
            <a:ext cx="114269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dirty="0"/>
              <a:t>When the User Click on Link from Asset Register, the Manage asset grid must display with filters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D760B0D-38CB-0241-79C1-1EF9B1D82FB4}"/>
              </a:ext>
            </a:extLst>
          </p:cNvPr>
          <p:cNvSpPr/>
          <p:nvPr/>
        </p:nvSpPr>
        <p:spPr>
          <a:xfrm>
            <a:off x="403733" y="561109"/>
            <a:ext cx="3731849" cy="38446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9705941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71BEC8-D1BE-1EF9-A8FB-C7F8735C89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21F51EA-3202-DF05-ECA6-400359BF32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100" y="360558"/>
            <a:ext cx="3719527" cy="134990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2BB4520-26FD-D674-5BC3-C9AB58A1C2A1}"/>
              </a:ext>
            </a:extLst>
          </p:cNvPr>
          <p:cNvSpPr txBox="1"/>
          <p:nvPr/>
        </p:nvSpPr>
        <p:spPr>
          <a:xfrm>
            <a:off x="403733" y="1807838"/>
            <a:ext cx="114269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dirty="0"/>
              <a:t>When the User Click on Link from GIS, the hyperlink as per a new asset setting must open in a separate web page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DBBC5F5-056E-D538-B859-1E0E4AEA9A69}"/>
              </a:ext>
            </a:extLst>
          </p:cNvPr>
          <p:cNvSpPr/>
          <p:nvPr/>
        </p:nvSpPr>
        <p:spPr>
          <a:xfrm>
            <a:off x="511729" y="540789"/>
            <a:ext cx="3406267" cy="38446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C91BD90-261D-C582-C27C-2FD275B97B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440" y="2177170"/>
            <a:ext cx="7945120" cy="4414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84625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25B908-8EFD-77A7-713A-BCFDE64EA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32DA6E5-FAB4-6DE5-76A8-5E3EF9646AD4}"/>
              </a:ext>
            </a:extLst>
          </p:cNvPr>
          <p:cNvSpPr txBox="1"/>
          <p:nvPr/>
        </p:nvSpPr>
        <p:spPr>
          <a:xfrm>
            <a:off x="281813" y="415918"/>
            <a:ext cx="114269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dirty="0"/>
              <a:t>New Map Link Setting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31E4FB6-EB61-5C82-F82A-34D3B31B97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813" y="785250"/>
            <a:ext cx="11271900" cy="263810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AA039DA-DB91-3CCF-6321-4E31F241D908}"/>
              </a:ext>
            </a:extLst>
          </p:cNvPr>
          <p:cNvSpPr txBox="1"/>
          <p:nvPr/>
        </p:nvSpPr>
        <p:spPr>
          <a:xfrm>
            <a:off x="355600" y="785250"/>
            <a:ext cx="423672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ZA" dirty="0"/>
              <a:t>Map Link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15FC384-16AA-19AC-A9A3-E8447385895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112" y="1325777"/>
            <a:ext cx="2665807" cy="29747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329ACEA-D7C0-7AE6-64A7-3D93BD4016C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7763" y="1325777"/>
            <a:ext cx="2665807" cy="29747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1A75DDD-CA93-0906-DB11-48BB65F58826}"/>
              </a:ext>
            </a:extLst>
          </p:cNvPr>
          <p:cNvSpPr txBox="1"/>
          <p:nvPr/>
        </p:nvSpPr>
        <p:spPr>
          <a:xfrm>
            <a:off x="355600" y="1807915"/>
            <a:ext cx="4236720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ZA" sz="1600" dirty="0"/>
              <a:t>Map Link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093BFA8-CC3D-FB73-8889-86A46CF6CAC6}"/>
              </a:ext>
            </a:extLst>
          </p:cNvPr>
          <p:cNvSpPr txBox="1"/>
          <p:nvPr/>
        </p:nvSpPr>
        <p:spPr>
          <a:xfrm>
            <a:off x="504112" y="1296582"/>
            <a:ext cx="4236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dirty="0"/>
              <a:t>Edit Map Link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AD7BEC5-B793-AEE0-5A9B-DC94750640F9}"/>
              </a:ext>
            </a:extLst>
          </p:cNvPr>
          <p:cNvSpPr txBox="1"/>
          <p:nvPr/>
        </p:nvSpPr>
        <p:spPr>
          <a:xfrm>
            <a:off x="5917763" y="1258633"/>
            <a:ext cx="4236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dirty="0"/>
              <a:t>Add Map Link</a:t>
            </a:r>
          </a:p>
        </p:txBody>
      </p:sp>
      <p:pic>
        <p:nvPicPr>
          <p:cNvPr id="14" name="Picture 13" descr="A white rectangular object with a long rectangular object in the middle&#10;&#10;AI-generated content may be incorrect.">
            <a:extLst>
              <a:ext uri="{FF2B5EF4-FFF2-40B4-BE49-F238E27FC236}">
                <a16:creationId xmlns:a16="http://schemas.microsoft.com/office/drawing/2014/main" id="{F891152E-B238-FEFD-3A01-05601960A30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813" y="3619400"/>
            <a:ext cx="11107547" cy="288946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6" name="Picture 15" descr="A black square with a white background&#10;&#10;AI-generated content may be incorrect.">
            <a:extLst>
              <a:ext uri="{FF2B5EF4-FFF2-40B4-BE49-F238E27FC236}">
                <a16:creationId xmlns:a16="http://schemas.microsoft.com/office/drawing/2014/main" id="{EC4E356B-A554-07CC-C022-8AF350282B6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813" y="5707306"/>
            <a:ext cx="3092528" cy="655990"/>
          </a:xfrm>
          <a:prstGeom prst="rect">
            <a:avLst/>
          </a:prstGeom>
        </p:spPr>
      </p:pic>
      <p:pic>
        <p:nvPicPr>
          <p:cNvPr id="18" name="Picture 17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380236C6-2204-5CD9-2E7D-1788E1869F8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122" y="5231207"/>
            <a:ext cx="3871757" cy="602032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1CBB0109-2D55-7D4D-22F8-835AC8F9440C}"/>
              </a:ext>
            </a:extLst>
          </p:cNvPr>
          <p:cNvSpPr txBox="1"/>
          <p:nvPr/>
        </p:nvSpPr>
        <p:spPr>
          <a:xfrm>
            <a:off x="355600" y="3726167"/>
            <a:ext cx="359664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ZA" dirty="0"/>
              <a:t>Map link - Add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1CF76DA-CB7A-D260-8469-F1A8E1842FA3}"/>
              </a:ext>
            </a:extLst>
          </p:cNvPr>
          <p:cNvSpPr txBox="1"/>
          <p:nvPr/>
        </p:nvSpPr>
        <p:spPr>
          <a:xfrm>
            <a:off x="355600" y="4555582"/>
            <a:ext cx="359664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ZA" dirty="0"/>
              <a:t>Map Type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AEC8907-63BA-5B4A-C177-636B57640FB4}"/>
              </a:ext>
            </a:extLst>
          </p:cNvPr>
          <p:cNvSpPr txBox="1"/>
          <p:nvPr/>
        </p:nvSpPr>
        <p:spPr>
          <a:xfrm>
            <a:off x="355600" y="5064132"/>
            <a:ext cx="359664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ZA" dirty="0"/>
              <a:t>Map Link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82D821EC-550D-2736-32A2-DD97104E42A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2320" y="4991466"/>
            <a:ext cx="5953760" cy="586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13706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2751</TotalTime>
  <Words>451</Words>
  <Application>Microsoft Office PowerPoint</Application>
  <PresentationFormat>Widescreen</PresentationFormat>
  <Paragraphs>54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Asset Maintenance – Specifications in Picture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Alta Coetzee</dc:creator>
  <cp:lastModifiedBy>Pieter Marais</cp:lastModifiedBy>
  <cp:revision>5</cp:revision>
  <dcterms:created xsi:type="dcterms:W3CDTF">2025-02-14T11:20:19Z</dcterms:created>
  <dcterms:modified xsi:type="dcterms:W3CDTF">2026-03-13T01:54:53Z</dcterms:modified>
</cp:coreProperties>
</file>