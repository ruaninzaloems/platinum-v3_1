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0" r:id="rId4"/>
    <p:sldId id="267" r:id="rId5"/>
    <p:sldId id="261" r:id="rId6"/>
    <p:sldId id="262" r:id="rId7"/>
    <p:sldId id="265" r:id="rId8"/>
    <p:sldId id="266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6E2FA-3235-3A0C-0156-AE8EC40B7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41D12-9D24-64AB-44A4-95F8A9F81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143AD-5DE7-02DE-07C5-DBBE9159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BE2F-F8D1-D3E0-3928-EA30AB99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C932E-858F-27DB-1CB5-0184BCEC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1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2BE5-ABCB-CFE3-24D9-AB4FA7EE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19EA2-B6BE-6973-4EF9-9EFFC9FA7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9AA2E-2C49-79AF-06BC-0A237639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11713-5735-027D-7C2D-342A4EB1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D9C7B-1F5B-ECAE-5B04-A25B5183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345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77F3-C831-1D29-941C-794AE9F89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A011D-5925-EF82-E213-68F735C2A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6664B-6F7C-A751-A8F5-DEE50240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7440E-E79A-A1A5-E787-DB6D36988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31BAF-9ECA-E787-6BA2-1992ABAA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019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85A7-0335-00FD-DA45-BFDCE7C6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447C8-5FE9-3AD6-2695-1E099FA74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F2137-099F-51E2-55A0-F96C8F4CA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EFF05-A709-F796-2478-41C2EF02C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D1657-824A-E342-04F3-FEA3B95F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78F60-CC41-431B-60B0-3687FD6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542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0360-8121-22C3-D1A0-676F7C9C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8060E-FB7B-4A7C-7D6A-FF5CAD907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DFE58-D584-2B16-D84D-FEFF1C13C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0C8D12-A3AF-0477-BF24-A2CE12F34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BF13A-0043-272B-DE2A-CA954D529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29268-5E24-C1EB-4DA8-659BD117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7A7FE-9BBF-AE35-7177-0D6F6AD6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0B694-1CD0-7361-53F0-703D144B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6121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2703-E020-57D6-BCF3-0F6DAD3C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61864-CCB9-6849-70E2-927F6393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6EE3B-667B-D1A6-B007-54417C94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806C-306E-CE11-21C6-5CB8C30F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1861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681B0-212A-0526-7702-F6C35EEF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D8C75-03C7-3D96-4853-DAFA44D9C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D795E-A559-CF3B-077A-2F982B47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061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9B57-9317-79CF-B9C9-F3531B64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74D83-CB43-D6A8-6055-363EBEDC4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88F07-9305-5DD1-8277-A6C9FD6BD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00C2C-F5AD-A660-1F20-825F1281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1F75-9BCF-61F6-2FFA-E96C6383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0E865-5142-5933-DF96-749ACC08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318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6469-EF7A-137B-96BE-D6C075F0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C9CF0-9EA8-00BA-2541-5EB5DA47F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4018D-F486-4EEF-5B71-C84828AEA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CB5B3-951C-A380-0235-FDF0E983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E895A-7FB8-2E08-146F-CA5EB25B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7C46B-A928-D11B-B1E7-C50F3490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2000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BA5D-6F1A-C25D-9B1C-5E8A810B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95D43-B082-5445-DDD7-9F53264B2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FA71-20BD-D0CA-E40E-50C4550E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414B4-8F32-A56A-757E-69BE4902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C7ADC-9E79-D1CC-3181-834D979C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624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B5AA78-365F-762C-14F5-5101DFBEF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C4AA9-ECEA-FAC8-C61E-92B71A36E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B3967-E42B-4DB9-A259-3D3AFFB3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B28A2-14C6-7581-A98C-F0F682F8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C822A-EE47-B58C-83AB-9023A3B1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415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1C438-FEB7-3AF3-F093-DC1E3ABB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D625D-B96A-D7FE-1EEE-E89A6687A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88682-78FE-CC85-D746-A86AFF531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FD20F-ABCB-4BE6-98C7-D17D22F4D22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E3839-4965-B214-7AC9-92D8A4C7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67B15-71C8-4EFA-73D9-6C05FBE65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029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men working on a power line&#10;&#10;AI-generated content may be incorrect.">
            <a:extLst>
              <a:ext uri="{FF2B5EF4-FFF2-40B4-BE49-F238E27FC236}">
                <a16:creationId xmlns:a16="http://schemas.microsoft.com/office/drawing/2014/main" id="{735238D8-50EF-2C24-4D2C-F95AC6F55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6954D-92E6-8061-3223-568C31C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Asset Maintenance – Specifications in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43054B5-AC82-6632-C1FE-59C8B23C4EA2}"/>
              </a:ext>
            </a:extLst>
          </p:cNvPr>
          <p:cNvSpPr txBox="1"/>
          <p:nvPr/>
        </p:nvSpPr>
        <p:spPr>
          <a:xfrm>
            <a:off x="523875" y="310052"/>
            <a:ext cx="1121092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118550	Asset Maintenance - Corrective Maintenance - Capture Maintenance </a:t>
            </a:r>
            <a:r>
              <a:rPr lang="fr-FR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Request</a:t>
            </a:r>
            <a:endParaRPr lang="en-ZA" sz="3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FD3530-3CAB-1B59-3EDD-BC2084747A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8068243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85160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>
                          <a:effectLst/>
                        </a:rPr>
                        <a:t>118547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effectLst/>
                        </a:rPr>
                        <a:t>Asset 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5833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8897BE71-7BA2-AF93-26C8-A01979FB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70C167-2D17-34E0-ECD4-F14A6581409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93814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21265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>
                          <a:effectLst/>
                        </a:rPr>
                        <a:t>118547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effectLst/>
                        </a:rPr>
                        <a:t>Asset 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106518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2E687C39-F6E5-1FF2-05ED-1637F3047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653348-7CB1-C7B4-5622-8F4ECDB648D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681254"/>
          <a:ext cx="10515600" cy="640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324145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7449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>
                          <a:effectLst/>
                        </a:rPr>
                        <a:t>118550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effectLst/>
                        </a:rPr>
                        <a:t>Asset Maintenance - Corrective Maintenance - Capture Maintenance </a:t>
                      </a:r>
                      <a:r>
                        <a:rPr lang="fr-FR" dirty="0" err="1">
                          <a:effectLst/>
                        </a:rPr>
                        <a:t>Request</a:t>
                      </a:r>
                      <a:endParaRPr lang="fr-FR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228900"/>
                  </a:ext>
                </a:extLst>
              </a:tr>
            </a:tbl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FEF7F108-BE4B-58E5-8FC1-024C34963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81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202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6F957-2894-1A43-D489-8D6DBAA9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2ED497-8BDD-14C2-106B-851D41F25F49}"/>
              </a:ext>
            </a:extLst>
          </p:cNvPr>
          <p:cNvSpPr txBox="1"/>
          <p:nvPr/>
        </p:nvSpPr>
        <p:spPr>
          <a:xfrm>
            <a:off x="1220932" y="979055"/>
            <a:ext cx="728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Capture New Maintenance </a:t>
            </a:r>
            <a:r>
              <a:rPr lang="fr-FR" dirty="0" err="1"/>
              <a:t>Request</a:t>
            </a:r>
            <a:endParaRPr lang="en-ZA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EB4B6C-5FDD-54F5-8AA9-0ACE068EAFDC}"/>
              </a:ext>
            </a:extLst>
          </p:cNvPr>
          <p:cNvGrpSpPr/>
          <p:nvPr/>
        </p:nvGrpSpPr>
        <p:grpSpPr>
          <a:xfrm>
            <a:off x="1278082" y="1745336"/>
            <a:ext cx="9635836" cy="3799730"/>
            <a:chOff x="1278082" y="1745336"/>
            <a:chExt cx="9635836" cy="3799730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2D44B79-6367-C5AD-F3F1-030BDA914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4" r="2131" b="35617"/>
            <a:stretch/>
          </p:blipFill>
          <p:spPr>
            <a:xfrm>
              <a:off x="1278082" y="1745336"/>
              <a:ext cx="4817918" cy="242026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7854D0-512A-92F8-82AA-BA78ABCBEA8A}"/>
                </a:ext>
              </a:extLst>
            </p:cNvPr>
            <p:cNvSpPr txBox="1"/>
            <p:nvPr/>
          </p:nvSpPr>
          <p:spPr>
            <a:xfrm>
              <a:off x="1278082" y="3129105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Planned Maintenance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4D1795-A030-5C3A-5A0A-F3AA53EA3D00}"/>
                </a:ext>
              </a:extLst>
            </p:cNvPr>
            <p:cNvSpPr txBox="1"/>
            <p:nvPr/>
          </p:nvSpPr>
          <p:spPr>
            <a:xfrm>
              <a:off x="1278082" y="368588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Reactive Maintenance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734B73-3B80-41AA-98C7-5E458396C67A}"/>
                </a:ext>
              </a:extLst>
            </p:cNvPr>
            <p:cNvSpPr txBox="1"/>
            <p:nvPr/>
          </p:nvSpPr>
          <p:spPr>
            <a:xfrm>
              <a:off x="6096000" y="368588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Capture New Maintenance Request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5776DC9-42B9-DD8C-1C7A-2E4509176B7A}"/>
                </a:ext>
              </a:extLst>
            </p:cNvPr>
            <p:cNvSpPr txBox="1"/>
            <p:nvPr/>
          </p:nvSpPr>
          <p:spPr>
            <a:xfrm>
              <a:off x="6096000" y="405799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Link Maintenance Request to an Existing Asset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DAB363D-1663-FE6F-5056-4AAC26E02BD4}"/>
                </a:ext>
              </a:extLst>
            </p:cNvPr>
            <p:cNvSpPr txBox="1"/>
            <p:nvPr/>
          </p:nvSpPr>
          <p:spPr>
            <a:xfrm>
              <a:off x="6096000" y="4437070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Approve  Maintenance Request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319CD74-DB84-3E4E-D426-FA6F169D3E07}"/>
                </a:ext>
              </a:extLst>
            </p:cNvPr>
            <p:cNvSpPr txBox="1"/>
            <p:nvPr/>
          </p:nvSpPr>
          <p:spPr>
            <a:xfrm>
              <a:off x="6096000" y="4806402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Create Work Order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7C5FA2-37F7-9989-D63E-2F2E3B42DF8A}"/>
                </a:ext>
              </a:extLst>
            </p:cNvPr>
            <p:cNvSpPr txBox="1"/>
            <p:nvPr/>
          </p:nvSpPr>
          <p:spPr>
            <a:xfrm>
              <a:off x="6096000" y="5175734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Manage Work Order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8976A21-EA21-B97A-65A7-64F939B78067}"/>
              </a:ext>
            </a:extLst>
          </p:cNvPr>
          <p:cNvSpPr txBox="1"/>
          <p:nvPr/>
        </p:nvSpPr>
        <p:spPr>
          <a:xfrm>
            <a:off x="1278082" y="3695628"/>
            <a:ext cx="9635836" cy="369332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501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A3EE07-3E9C-CC91-EDED-E23410EEB0C6}"/>
              </a:ext>
            </a:extLst>
          </p:cNvPr>
          <p:cNvSpPr txBox="1"/>
          <p:nvPr/>
        </p:nvSpPr>
        <p:spPr>
          <a:xfrm>
            <a:off x="268942" y="979055"/>
            <a:ext cx="11413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Reactive</a:t>
            </a:r>
            <a:r>
              <a:rPr lang="fr-FR" b="1" dirty="0"/>
              <a:t> Maintenance - </a:t>
            </a:r>
            <a:r>
              <a:rPr lang="en-ZA" b="1" dirty="0"/>
              <a:t>Capture New Maintenance Request</a:t>
            </a:r>
          </a:p>
          <a:p>
            <a:endParaRPr lang="en-ZA" dirty="0"/>
          </a:p>
          <a:p>
            <a:r>
              <a:rPr lang="en-ZA" dirty="0"/>
              <a:t>When clicking on the Capture New Maintenance Request option, the following screen needs to be display.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78D5AC-77CB-4530-9457-A6BBDD945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11"/>
          <a:stretch/>
        </p:blipFill>
        <p:spPr>
          <a:xfrm>
            <a:off x="161365" y="2472130"/>
            <a:ext cx="11827739" cy="3000038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B6A75E-E36D-58AB-DC6A-420391FD946F}"/>
              </a:ext>
            </a:extLst>
          </p:cNvPr>
          <p:cNvSpPr txBox="1"/>
          <p:nvPr/>
        </p:nvSpPr>
        <p:spPr>
          <a:xfrm>
            <a:off x="396240" y="2568845"/>
            <a:ext cx="50901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b="1"/>
              <a:t>Capture New Maintenance Request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78F965-58E2-B504-5986-11ED0D0B57C5}"/>
              </a:ext>
            </a:extLst>
          </p:cNvPr>
          <p:cNvSpPr txBox="1"/>
          <p:nvPr/>
        </p:nvSpPr>
        <p:spPr>
          <a:xfrm>
            <a:off x="396240" y="3598125"/>
            <a:ext cx="3554806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8B9BF4-86FF-9E22-39D7-F64738740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59" y="3203096"/>
            <a:ext cx="2331922" cy="304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A75CCA-4F7C-BEF9-0227-B95E6C3B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931" y="3230038"/>
            <a:ext cx="2331922" cy="3048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7A14EC-EDB2-6FF7-A56C-EE71040B2A8F}"/>
              </a:ext>
            </a:extLst>
          </p:cNvPr>
          <p:cNvSpPr txBox="1"/>
          <p:nvPr/>
        </p:nvSpPr>
        <p:spPr>
          <a:xfrm>
            <a:off x="530759" y="3197785"/>
            <a:ext cx="3554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New Maintenance Request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EA9237-03E2-B591-83F1-8C219967AD18}"/>
              </a:ext>
            </a:extLst>
          </p:cNvPr>
          <p:cNvSpPr txBox="1"/>
          <p:nvPr/>
        </p:nvSpPr>
        <p:spPr>
          <a:xfrm>
            <a:off x="6297153" y="3133279"/>
            <a:ext cx="532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New Maintenance Request from Customer Care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12E844-07DA-7DE8-7B47-EB6C52E84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59" y="4077667"/>
            <a:ext cx="1287881" cy="3761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FD42387-D2D9-6A66-8205-FAD71AA9D2E3}"/>
              </a:ext>
            </a:extLst>
          </p:cNvPr>
          <p:cNvSpPr txBox="1"/>
          <p:nvPr/>
        </p:nvSpPr>
        <p:spPr>
          <a:xfrm>
            <a:off x="6297153" y="4134184"/>
            <a:ext cx="117856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ZA" dirty="0"/>
              <a:t>Link CC</a:t>
            </a:r>
          </a:p>
        </p:txBody>
      </p:sp>
    </p:spTree>
    <p:extLst>
      <p:ext uri="{BB962C8B-B14F-4D97-AF65-F5344CB8AC3E}">
        <p14:creationId xmlns:p14="http://schemas.microsoft.com/office/powerpoint/2010/main" val="9494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4EAA7E-7B46-88EB-30C5-2B5555557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80"/>
          <a:stretch/>
        </p:blipFill>
        <p:spPr>
          <a:xfrm>
            <a:off x="20" y="21290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45783A-EC7C-85A1-B707-DBE0EAE4647C}"/>
              </a:ext>
            </a:extLst>
          </p:cNvPr>
          <p:cNvSpPr txBox="1"/>
          <p:nvPr/>
        </p:nvSpPr>
        <p:spPr>
          <a:xfrm>
            <a:off x="141641" y="1115408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Service Group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24FD37-BED4-DD5D-792F-E49FADB60E7E}"/>
              </a:ext>
            </a:extLst>
          </p:cNvPr>
          <p:cNvSpPr txBox="1"/>
          <p:nvPr/>
        </p:nvSpPr>
        <p:spPr>
          <a:xfrm>
            <a:off x="141641" y="389068"/>
            <a:ext cx="3076687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sz="1600" dirty="0"/>
              <a:t>Maintenance Request - Add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3B149-55B1-4501-DCAA-49C6DE8A01EB}"/>
              </a:ext>
            </a:extLst>
          </p:cNvPr>
          <p:cNvSpPr txBox="1"/>
          <p:nvPr/>
        </p:nvSpPr>
        <p:spPr>
          <a:xfrm>
            <a:off x="6349401" y="2558128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Request Date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7B9C5-1E41-396C-C760-8BA54D6D6D87}"/>
              </a:ext>
            </a:extLst>
          </p:cNvPr>
          <p:cNvSpPr txBox="1"/>
          <p:nvPr/>
        </p:nvSpPr>
        <p:spPr>
          <a:xfrm>
            <a:off x="8300121" y="2558128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14/02/2025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FB961-A9F1-AFC1-EC18-A4E68A87604E}"/>
              </a:ext>
            </a:extLst>
          </p:cNvPr>
          <p:cNvSpPr txBox="1"/>
          <p:nvPr/>
        </p:nvSpPr>
        <p:spPr>
          <a:xfrm>
            <a:off x="141641" y="3377312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Lead Time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13" name="Picture 12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F677C733-FCC0-8E0E-5A2E-6F801C618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466" y="3171554"/>
            <a:ext cx="3563734" cy="5561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B77BB1-64DF-7298-EF7D-F5E9E9149B0D}"/>
              </a:ext>
            </a:extLst>
          </p:cNvPr>
          <p:cNvSpPr txBox="1"/>
          <p:nvPr/>
        </p:nvSpPr>
        <p:spPr>
          <a:xfrm>
            <a:off x="6349401" y="3311149"/>
            <a:ext cx="151444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Proposed Closing Time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16" name="Picture 15" descr="A close up of a logo&#10;&#10;AI-generated content may be incorrect.">
            <a:extLst>
              <a:ext uri="{FF2B5EF4-FFF2-40B4-BE49-F238E27FC236}">
                <a16:creationId xmlns:a16="http://schemas.microsoft.com/office/drawing/2014/main" id="{E194A7B0-C26D-B6E5-A971-E3DE2E5BE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987" y="6158506"/>
            <a:ext cx="2251784" cy="6058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075046-9071-B56F-C093-2E3A4B8BA0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368" y="4514877"/>
            <a:ext cx="3033023" cy="8077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45201A-3FA8-57F5-549C-D621C6F0E9A7}"/>
              </a:ext>
            </a:extLst>
          </p:cNvPr>
          <p:cNvSpPr txBox="1"/>
          <p:nvPr/>
        </p:nvSpPr>
        <p:spPr>
          <a:xfrm>
            <a:off x="83352" y="4007492"/>
            <a:ext cx="22026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Maintenance Description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21" name="Picture 20" descr="A white rectangle with black lines&#10;&#10;AI-generated content may be incorrect.">
            <a:extLst>
              <a:ext uri="{FF2B5EF4-FFF2-40B4-BE49-F238E27FC236}">
                <a16:creationId xmlns:a16="http://schemas.microsoft.com/office/drawing/2014/main" id="{756CA1DA-5923-264E-59A2-DFF0AB9B29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0"/>
          <a:stretch/>
        </p:blipFill>
        <p:spPr>
          <a:xfrm>
            <a:off x="2194560" y="3774770"/>
            <a:ext cx="9438640" cy="1348127"/>
          </a:xfrm>
          <a:prstGeom prst="rect">
            <a:avLst/>
          </a:prstGeom>
        </p:spPr>
      </p:pic>
      <p:pic>
        <p:nvPicPr>
          <p:cNvPr id="23" name="Picture 22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F41E6388-82AB-7937-350A-E42EF53993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9347"/>
            <a:ext cx="2735817" cy="5182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2AD60EC-07D7-4B26-E5CE-DBBED53814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2" y="4828888"/>
            <a:ext cx="6079658" cy="6471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A35B9CE-63E0-4D16-80B9-3699C12FFF1B}"/>
              </a:ext>
            </a:extLst>
          </p:cNvPr>
          <p:cNvSpPr txBox="1"/>
          <p:nvPr/>
        </p:nvSpPr>
        <p:spPr>
          <a:xfrm>
            <a:off x="165544" y="5035653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Capturer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01AB09D-D044-A475-0C84-6E56F2BD15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429" y="5512454"/>
            <a:ext cx="3678460" cy="396274"/>
          </a:xfrm>
          <a:prstGeom prst="rect">
            <a:avLst/>
          </a:prstGeom>
        </p:spPr>
      </p:pic>
      <p:pic>
        <p:nvPicPr>
          <p:cNvPr id="30" name="Picture 29" descr="A close up of a sign&#10;&#10;AI-generated content may be incorrect.">
            <a:extLst>
              <a:ext uri="{FF2B5EF4-FFF2-40B4-BE49-F238E27FC236}">
                <a16:creationId xmlns:a16="http://schemas.microsoft.com/office/drawing/2014/main" id="{C94BFCA3-0DF6-18C9-0087-CC08CB04A9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553" y="5454499"/>
            <a:ext cx="3479799" cy="4277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4B3C35D-A1EC-9BE3-36B3-59B202ACDBC3}"/>
              </a:ext>
            </a:extLst>
          </p:cNvPr>
          <p:cNvSpPr txBox="1"/>
          <p:nvPr/>
        </p:nvSpPr>
        <p:spPr>
          <a:xfrm>
            <a:off x="141640" y="5513090"/>
            <a:ext cx="214435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Proposed Budget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6F0594-19E6-D97E-FC06-B0434084549F}"/>
              </a:ext>
            </a:extLst>
          </p:cNvPr>
          <p:cNvSpPr txBox="1"/>
          <p:nvPr/>
        </p:nvSpPr>
        <p:spPr>
          <a:xfrm>
            <a:off x="6349400" y="5521058"/>
            <a:ext cx="195072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SCOA Item Description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608672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B2F1D-AAAF-1351-7F92-8CB4E8F00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68331C-9D7B-AE0B-23D9-1B5DAADD1075}"/>
              </a:ext>
            </a:extLst>
          </p:cNvPr>
          <p:cNvSpPr txBox="1"/>
          <p:nvPr/>
        </p:nvSpPr>
        <p:spPr>
          <a:xfrm>
            <a:off x="268942" y="979055"/>
            <a:ext cx="114138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Reactive</a:t>
            </a:r>
            <a:r>
              <a:rPr lang="fr-FR" b="1" dirty="0"/>
              <a:t> Maintenance - </a:t>
            </a:r>
            <a:r>
              <a:rPr lang="en-ZA" b="1" dirty="0"/>
              <a:t>Capture New Maintenance Request</a:t>
            </a:r>
          </a:p>
          <a:p>
            <a:endParaRPr lang="en-ZA" dirty="0"/>
          </a:p>
          <a:p>
            <a:r>
              <a:rPr lang="en-ZA" dirty="0"/>
              <a:t>When clicking on Add New, a Capturing Screen With the following fields must display.</a:t>
            </a:r>
          </a:p>
          <a:p>
            <a:endParaRPr lang="en-ZA" dirty="0"/>
          </a:p>
          <a:p>
            <a:pPr marL="342900" indent="-342900">
              <a:buAutoNum type="arabicPeriod"/>
            </a:pPr>
            <a:r>
              <a:rPr lang="en-ZA" dirty="0"/>
              <a:t>Service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Service Group must be a New Asset Setting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The Setting must Allow the user to add a New Service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The setting must allow the user to Edit an existing Service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Refer to Criticality Grade Setting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BBEF2A-712C-C26E-C73A-9179630B37A4}"/>
              </a:ext>
            </a:extLst>
          </p:cNvPr>
          <p:cNvGrpSpPr/>
          <p:nvPr/>
        </p:nvGrpSpPr>
        <p:grpSpPr>
          <a:xfrm>
            <a:off x="88393" y="3649532"/>
            <a:ext cx="11834665" cy="3208468"/>
            <a:chOff x="122613" y="3429000"/>
            <a:chExt cx="11834665" cy="3208468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D4D6E2A-A786-F766-F535-EB11E50FB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613" y="3429000"/>
              <a:ext cx="11834665" cy="3208468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3225BF-3E52-F8AF-D54F-EE8C7FA18357}"/>
                </a:ext>
              </a:extLst>
            </p:cNvPr>
            <p:cNvSpPr txBox="1"/>
            <p:nvPr/>
          </p:nvSpPr>
          <p:spPr>
            <a:xfrm>
              <a:off x="430306" y="3571539"/>
              <a:ext cx="246350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/>
                <a:t>Service Group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1001768-1B1C-0916-7D23-00525502E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942" y="4175748"/>
              <a:ext cx="2286198" cy="27434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E9D53F0-E0A9-65CA-30ED-FB02FFC53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4462" y="4175748"/>
              <a:ext cx="2286198" cy="27434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D990BB-8BF8-4ECA-E32D-BA1A077034B1}"/>
                </a:ext>
              </a:extLst>
            </p:cNvPr>
            <p:cNvSpPr txBox="1"/>
            <p:nvPr/>
          </p:nvSpPr>
          <p:spPr>
            <a:xfrm>
              <a:off x="430305" y="4128254"/>
              <a:ext cx="2463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dirty="0"/>
                <a:t>Edit Service Group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285E6D1-B4D3-FD2A-32EC-D244B5AD947A}"/>
                </a:ext>
              </a:extLst>
            </p:cNvPr>
            <p:cNvSpPr txBox="1"/>
            <p:nvPr/>
          </p:nvSpPr>
          <p:spPr>
            <a:xfrm>
              <a:off x="6245810" y="4128254"/>
              <a:ext cx="2463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dirty="0"/>
                <a:t>Add Service Group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75185A-0FF4-6232-F962-2869388F0DB3}"/>
                </a:ext>
              </a:extLst>
            </p:cNvPr>
            <p:cNvSpPr txBox="1"/>
            <p:nvPr/>
          </p:nvSpPr>
          <p:spPr>
            <a:xfrm>
              <a:off x="234722" y="4722400"/>
              <a:ext cx="246350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/>
                <a:t>Service Group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1166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F834-0716-46F9-5D22-CAF1BE41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7BF0CD-A4E2-1151-8013-0EAD8990E02B}"/>
              </a:ext>
            </a:extLst>
          </p:cNvPr>
          <p:cNvSpPr txBox="1"/>
          <p:nvPr/>
        </p:nvSpPr>
        <p:spPr>
          <a:xfrm>
            <a:off x="268942" y="979055"/>
            <a:ext cx="1141386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Reactive</a:t>
            </a:r>
            <a:r>
              <a:rPr lang="fr-FR" b="1" dirty="0"/>
              <a:t> Maintenance - </a:t>
            </a:r>
            <a:r>
              <a:rPr lang="en-ZA" b="1" dirty="0"/>
              <a:t>Capture New Maintenance Request</a:t>
            </a:r>
          </a:p>
          <a:p>
            <a:endParaRPr lang="en-ZA" dirty="0"/>
          </a:p>
          <a:p>
            <a:r>
              <a:rPr lang="en-ZA" dirty="0"/>
              <a:t>When clicking on Add New, a Capturing Screen With the following fields must display.</a:t>
            </a:r>
          </a:p>
          <a:p>
            <a:endParaRPr lang="en-ZA" dirty="0"/>
          </a:p>
          <a:p>
            <a:pPr marL="342900" indent="-342900">
              <a:buAutoNum type="arabicPeriod" startAt="2"/>
            </a:pPr>
            <a:r>
              <a:rPr lang="en-ZA" dirty="0"/>
              <a:t>Asset Type </a:t>
            </a:r>
            <a:r>
              <a:rPr lang="en-ZA" sz="2400" dirty="0">
                <a:solidFill>
                  <a:srgbClr val="FF0000"/>
                </a:solidFill>
              </a:rPr>
              <a:t>*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Use the EMS Asset Setting For Asset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Capturing field must be a drop-down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ZA" dirty="0"/>
          </a:p>
          <a:p>
            <a:pPr marL="342900" indent="-342900">
              <a:buAutoNum type="arabicPeriod" startAt="3"/>
            </a:pPr>
            <a:r>
              <a:rPr lang="en-ZA" dirty="0"/>
              <a:t>Asset Category</a:t>
            </a:r>
            <a:r>
              <a:rPr lang="en-ZA" sz="1800" dirty="0">
                <a:solidFill>
                  <a:srgbClr val="FF0000"/>
                </a:solidFill>
              </a:rPr>
              <a:t> *</a:t>
            </a:r>
            <a:endParaRPr lang="en-Z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Use the EMS Asset Setting For Asset Category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Only display asset Categories related to the Asset Type selected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Capturing field must be a drop-down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ZA" dirty="0"/>
          </a:p>
          <a:p>
            <a:pPr marL="342900" indent="-342900">
              <a:buAutoNum type="arabicPeriod" startAt="4"/>
            </a:pPr>
            <a:r>
              <a:rPr lang="en-ZA" dirty="0"/>
              <a:t>Asset Sub-category</a:t>
            </a:r>
            <a:r>
              <a:rPr lang="en-ZA" sz="1800" dirty="0">
                <a:solidFill>
                  <a:srgbClr val="FF0000"/>
                </a:solidFill>
              </a:rPr>
              <a:t> *</a:t>
            </a:r>
            <a:endParaRPr lang="en-Z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Use the EMS Asset Setting For Asset Sub-Category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Only display asset Sub-Categories related to the Asset Type and Asset Category selected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Capturing field must be a drop-down</a:t>
            </a:r>
          </a:p>
          <a:p>
            <a:pPr marL="342900" indent="-342900">
              <a:buAutoNum type="arabicPeriod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83752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7257-D630-1038-669A-138432D2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3E1771-39AF-DF53-9FEF-C7121EB025A9}"/>
              </a:ext>
            </a:extLst>
          </p:cNvPr>
          <p:cNvSpPr txBox="1"/>
          <p:nvPr/>
        </p:nvSpPr>
        <p:spPr>
          <a:xfrm>
            <a:off x="268942" y="979055"/>
            <a:ext cx="1141386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Reactive</a:t>
            </a:r>
            <a:r>
              <a:rPr lang="fr-FR" b="1" dirty="0"/>
              <a:t> Maintenance - </a:t>
            </a:r>
            <a:r>
              <a:rPr lang="en-ZA" b="1" dirty="0"/>
              <a:t>Capture New Maintenance Request</a:t>
            </a:r>
          </a:p>
          <a:p>
            <a:endParaRPr lang="en-ZA" dirty="0"/>
          </a:p>
          <a:p>
            <a:r>
              <a:rPr lang="en-ZA" dirty="0"/>
              <a:t>When clicking on Add New, a Capturing Screen With the following fields must display.</a:t>
            </a:r>
          </a:p>
          <a:p>
            <a:endParaRPr lang="en-ZA" dirty="0"/>
          </a:p>
          <a:p>
            <a:pPr marL="342900" indent="-342900">
              <a:buAutoNum type="arabicPeriod" startAt="5"/>
            </a:pPr>
            <a:r>
              <a:rPr lang="en-ZA" dirty="0"/>
              <a:t>Request Date</a:t>
            </a:r>
            <a:r>
              <a:rPr lang="en-ZA" sz="1800" dirty="0">
                <a:solidFill>
                  <a:srgbClr val="FF0000"/>
                </a:solidFill>
              </a:rPr>
              <a:t> *</a:t>
            </a:r>
            <a:endParaRPr lang="en-Z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The system must display by default the current date but must allow the user to edit the date by selecting another date from a date picker.</a:t>
            </a:r>
          </a:p>
          <a:p>
            <a:endParaRPr lang="en-ZA" dirty="0"/>
          </a:p>
          <a:p>
            <a:pPr marL="342900" indent="-342900">
              <a:buAutoNum type="arabicPeriod" startAt="6"/>
            </a:pPr>
            <a:r>
              <a:rPr lang="en-ZA" dirty="0"/>
              <a:t>Lead Time</a:t>
            </a:r>
            <a:r>
              <a:rPr lang="en-ZA" sz="1800" dirty="0">
                <a:solidFill>
                  <a:srgbClr val="FF0000"/>
                </a:solidFill>
              </a:rPr>
              <a:t> *</a:t>
            </a:r>
            <a:endParaRPr lang="en-Z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Lead Time must be a New Asset Setting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The Setting must Allow the user to add New Lead Times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The setting must allow the user to Edit an existing Lead Time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F61B57-1898-49C9-F314-488AD6579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5"/>
          <a:stretch/>
        </p:blipFill>
        <p:spPr>
          <a:xfrm>
            <a:off x="740597" y="4378360"/>
            <a:ext cx="9707860" cy="22822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245B59-9C7F-BA13-2DB2-FC97709746B8}"/>
              </a:ext>
            </a:extLst>
          </p:cNvPr>
          <p:cNvSpPr txBox="1"/>
          <p:nvPr/>
        </p:nvSpPr>
        <p:spPr>
          <a:xfrm>
            <a:off x="740597" y="4468092"/>
            <a:ext cx="433300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dirty="0"/>
              <a:t>Maintenance Lead Time - Add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B5C2C8-E43D-8766-B1F8-8B7C7EBE1A88}"/>
              </a:ext>
            </a:extLst>
          </p:cNvPr>
          <p:cNvSpPr txBox="1"/>
          <p:nvPr/>
        </p:nvSpPr>
        <p:spPr>
          <a:xfrm>
            <a:off x="740597" y="5150134"/>
            <a:ext cx="3201483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sz="1600" dirty="0"/>
              <a:t>Maintenance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67160-7901-4C93-4308-F3B44C48467A}"/>
              </a:ext>
            </a:extLst>
          </p:cNvPr>
          <p:cNvSpPr txBox="1"/>
          <p:nvPr/>
        </p:nvSpPr>
        <p:spPr>
          <a:xfrm>
            <a:off x="740596" y="5632121"/>
            <a:ext cx="3201483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sz="1600" dirty="0"/>
              <a:t>Lead times in Days</a:t>
            </a:r>
          </a:p>
        </p:txBody>
      </p:sp>
    </p:spTree>
    <p:extLst>
      <p:ext uri="{BB962C8B-B14F-4D97-AF65-F5344CB8AC3E}">
        <p14:creationId xmlns:p14="http://schemas.microsoft.com/office/powerpoint/2010/main" val="68452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03868C-4CA4-CD33-28B6-80F09EBAF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16"/>
          <a:stretch/>
        </p:blipFill>
        <p:spPr>
          <a:xfrm>
            <a:off x="408226" y="567765"/>
            <a:ext cx="11558821" cy="32942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019F36-54FE-9AA4-D716-95E0B741760D}"/>
              </a:ext>
            </a:extLst>
          </p:cNvPr>
          <p:cNvSpPr txBox="1"/>
          <p:nvPr/>
        </p:nvSpPr>
        <p:spPr>
          <a:xfrm>
            <a:off x="508000" y="1107440"/>
            <a:ext cx="406400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dirty="0"/>
              <a:t>Maintenance Lead Time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6C5AAC-5805-618D-2BDF-9AAA2FBE3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99109"/>
            <a:ext cx="2804160" cy="389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C5CE47-F97F-3537-6F87-C425C8681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60" y="1699108"/>
            <a:ext cx="2804160" cy="3894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0CB3B2-54F0-077D-F400-1BFCB5133118}"/>
              </a:ext>
            </a:extLst>
          </p:cNvPr>
          <p:cNvSpPr txBox="1"/>
          <p:nvPr/>
        </p:nvSpPr>
        <p:spPr>
          <a:xfrm>
            <a:off x="418386" y="2361606"/>
            <a:ext cx="406400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sz="1400" dirty="0"/>
              <a:t>Maintenance Lead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1A683-C94D-8FBC-3614-4DE718CFF5D6}"/>
              </a:ext>
            </a:extLst>
          </p:cNvPr>
          <p:cNvSpPr txBox="1"/>
          <p:nvPr/>
        </p:nvSpPr>
        <p:spPr>
          <a:xfrm>
            <a:off x="508000" y="1739952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sz="1400" dirty="0"/>
              <a:t>Edit Maintenance Lead 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2D82C-0961-5379-FEBE-63EC74B50084}"/>
              </a:ext>
            </a:extLst>
          </p:cNvPr>
          <p:cNvSpPr txBox="1"/>
          <p:nvPr/>
        </p:nvSpPr>
        <p:spPr>
          <a:xfrm>
            <a:off x="6577884" y="1744136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sz="1400" dirty="0"/>
              <a:t>Add Maintenance Lead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8F5C58-2FE2-D5C7-6C55-1D11303464E6}"/>
              </a:ext>
            </a:extLst>
          </p:cNvPr>
          <p:cNvSpPr txBox="1"/>
          <p:nvPr/>
        </p:nvSpPr>
        <p:spPr>
          <a:xfrm>
            <a:off x="609950" y="87265"/>
            <a:ext cx="7304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Maintenance lead Time Setting Page</a:t>
            </a:r>
          </a:p>
        </p:txBody>
      </p:sp>
    </p:spTree>
    <p:extLst>
      <p:ext uri="{BB962C8B-B14F-4D97-AF65-F5344CB8AC3E}">
        <p14:creationId xmlns:p14="http://schemas.microsoft.com/office/powerpoint/2010/main" val="1200586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4F9F-2311-C86D-9A30-7EE96162C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7C59D-C1E6-8A33-91D2-1CB0F3128658}"/>
              </a:ext>
            </a:extLst>
          </p:cNvPr>
          <p:cNvSpPr txBox="1"/>
          <p:nvPr/>
        </p:nvSpPr>
        <p:spPr>
          <a:xfrm>
            <a:off x="268942" y="979055"/>
            <a:ext cx="114138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Reactive</a:t>
            </a:r>
            <a:r>
              <a:rPr lang="fr-FR" b="1" dirty="0"/>
              <a:t> Maintenance - </a:t>
            </a:r>
            <a:r>
              <a:rPr lang="en-ZA" b="1" dirty="0"/>
              <a:t>Capture New Maintenance Request</a:t>
            </a:r>
          </a:p>
          <a:p>
            <a:endParaRPr lang="en-ZA" dirty="0"/>
          </a:p>
          <a:p>
            <a:r>
              <a:rPr lang="en-ZA" dirty="0"/>
              <a:t>When clicking on Add New, a Capturing Screen With the following fields must display.</a:t>
            </a:r>
          </a:p>
          <a:p>
            <a:endParaRPr lang="en-ZA" dirty="0"/>
          </a:p>
          <a:p>
            <a:pPr marL="342900" indent="-342900">
              <a:buAutoNum type="arabicPeriod" startAt="7"/>
            </a:pPr>
            <a:r>
              <a:rPr lang="en-ZA" dirty="0"/>
              <a:t>Proposed Closing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If possible can the system calculate the closing time (Request date + Lead time = Proposed Closing Time)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ZA" dirty="0"/>
          </a:p>
          <a:p>
            <a:pPr marL="342900" indent="-342900">
              <a:buAutoNum type="arabicPeriod" startAt="8"/>
            </a:pPr>
            <a:r>
              <a:rPr lang="en-ZA" dirty="0"/>
              <a:t>Maintenance Request Description</a:t>
            </a:r>
            <a:r>
              <a:rPr lang="en-ZA" sz="1800" dirty="0">
                <a:solidFill>
                  <a:srgbClr val="FF0000"/>
                </a:solidFill>
              </a:rPr>
              <a:t> *</a:t>
            </a:r>
            <a:endParaRPr lang="en-Z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Open Type in Field</a:t>
            </a:r>
          </a:p>
          <a:p>
            <a:pPr marL="342900" indent="-342900">
              <a:buAutoNum type="arabicPeriod" startAt="8"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28416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15020-A82A-22B0-66F6-BDCEC28B5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6FBE13-DBA3-D46F-DD3E-490A157882CF}"/>
              </a:ext>
            </a:extLst>
          </p:cNvPr>
          <p:cNvSpPr txBox="1"/>
          <p:nvPr/>
        </p:nvSpPr>
        <p:spPr>
          <a:xfrm>
            <a:off x="268942" y="979055"/>
            <a:ext cx="114138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Reactive</a:t>
            </a:r>
            <a:r>
              <a:rPr lang="fr-FR" b="1" dirty="0"/>
              <a:t> Maintenance - </a:t>
            </a:r>
            <a:r>
              <a:rPr lang="en-ZA" b="1" dirty="0"/>
              <a:t>Capture New Maintenance Request</a:t>
            </a:r>
          </a:p>
          <a:p>
            <a:endParaRPr lang="en-ZA" dirty="0"/>
          </a:p>
          <a:p>
            <a:r>
              <a:rPr lang="en-ZA" dirty="0"/>
              <a:t>When clicking on Add New, a Capturing Screen With the following fields must display.</a:t>
            </a:r>
          </a:p>
          <a:p>
            <a:endParaRPr lang="en-ZA" dirty="0"/>
          </a:p>
          <a:p>
            <a:pPr marL="342900" indent="-342900">
              <a:buAutoNum type="arabicPeriod" startAt="9"/>
            </a:pPr>
            <a:r>
              <a:rPr lang="en-ZA" dirty="0"/>
              <a:t>Capturer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Must populate automatically for the user logging the request.</a:t>
            </a:r>
          </a:p>
          <a:p>
            <a:endParaRPr lang="en-ZA" dirty="0"/>
          </a:p>
          <a:p>
            <a:pPr marL="342900" indent="-342900">
              <a:buAutoNum type="arabicPeriod" startAt="10"/>
            </a:pPr>
            <a:r>
              <a:rPr lang="en-ZA" dirty="0"/>
              <a:t>Select Budget</a:t>
            </a:r>
            <a:r>
              <a:rPr lang="en-ZA" sz="1800" dirty="0">
                <a:solidFill>
                  <a:srgbClr val="FF0000"/>
                </a:solidFill>
              </a:rPr>
              <a:t> *</a:t>
            </a:r>
            <a:endParaRPr lang="en-Z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Dropdown for Maintenance Budget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Dropdown for the applicable mSCOA Item Code description.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ZA" dirty="0"/>
          </a:p>
          <a:p>
            <a:pPr marL="342900" indent="-342900">
              <a:buAutoNum type="arabicPeriod" startAt="10"/>
            </a:pPr>
            <a:r>
              <a:rPr lang="en-ZA" dirty="0"/>
              <a:t>Submit for Approval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Add a Submit Button for approval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dirty="0"/>
              <a:t>System message to ask if the user is sure to submit for approval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97579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543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Asset Maintenance – Specifications in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Alta Coetzee</dc:creator>
  <cp:lastModifiedBy>Pieter Marais</cp:lastModifiedBy>
  <cp:revision>4</cp:revision>
  <dcterms:created xsi:type="dcterms:W3CDTF">2025-02-10T13:42:28Z</dcterms:created>
  <dcterms:modified xsi:type="dcterms:W3CDTF">2026-03-13T01:55:18Z</dcterms:modified>
</cp:coreProperties>
</file>