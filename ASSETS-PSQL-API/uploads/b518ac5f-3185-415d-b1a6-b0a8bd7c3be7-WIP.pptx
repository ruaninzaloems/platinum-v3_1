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0" r:id="rId3"/>
    <p:sldId id="263" r:id="rId4"/>
    <p:sldId id="266" r:id="rId5"/>
    <p:sldId id="264" r:id="rId6"/>
    <p:sldId id="265" r:id="rId7"/>
    <p:sldId id="268" r:id="rId8"/>
    <p:sldId id="270" r:id="rId9"/>
    <p:sldId id="271" r:id="rId10"/>
    <p:sldId id="267" r:id="rId11"/>
    <p:sldId id="272" r:id="rId12"/>
    <p:sldId id="273" r:id="rId13"/>
    <p:sldId id="274" r:id="rId14"/>
    <p:sldId id="276" r:id="rId15"/>
    <p:sldId id="275" r:id="rId16"/>
    <p:sldId id="277" r:id="rId17"/>
    <p:sldId id="278" r:id="rId18"/>
    <p:sldId id="280" r:id="rId19"/>
    <p:sldId id="279" r:id="rId20"/>
    <p:sldId id="28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173"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1CE14-EBC0-4673-4312-0BE1F5217C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6FBE002E-F600-F9B4-B4B0-BE97FA4A04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5DCFDE8E-AFDA-69E5-5E74-829E91600A57}"/>
              </a:ext>
            </a:extLst>
          </p:cNvPr>
          <p:cNvSpPr>
            <a:spLocks noGrp="1"/>
          </p:cNvSpPr>
          <p:nvPr>
            <p:ph type="dt" sz="half" idx="10"/>
          </p:nvPr>
        </p:nvSpPr>
        <p:spPr/>
        <p:txBody>
          <a:bodyPr/>
          <a:lstStyle/>
          <a:p>
            <a:fld id="{91FFDC35-C014-49C1-8996-BCAADA29AE34}" type="datetimeFigureOut">
              <a:rPr lang="en-ZA" smtClean="0"/>
              <a:t>2025/06/09</a:t>
            </a:fld>
            <a:endParaRPr lang="en-ZA"/>
          </a:p>
        </p:txBody>
      </p:sp>
      <p:sp>
        <p:nvSpPr>
          <p:cNvPr id="5" name="Footer Placeholder 4">
            <a:extLst>
              <a:ext uri="{FF2B5EF4-FFF2-40B4-BE49-F238E27FC236}">
                <a16:creationId xmlns:a16="http://schemas.microsoft.com/office/drawing/2014/main" id="{E38D4998-9F1C-42E8-3010-68CA09EA6E5D}"/>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7A325BC-662B-8BFF-E226-1CEB8A3D57AA}"/>
              </a:ext>
            </a:extLst>
          </p:cNvPr>
          <p:cNvSpPr>
            <a:spLocks noGrp="1"/>
          </p:cNvSpPr>
          <p:nvPr>
            <p:ph type="sldNum" sz="quarter" idx="12"/>
          </p:nvPr>
        </p:nvSpPr>
        <p:spPr/>
        <p:txBody>
          <a:bodyPr/>
          <a:lstStyle/>
          <a:p>
            <a:fld id="{992DC8D3-103E-4278-9D51-03F333B6A860}" type="slidenum">
              <a:rPr lang="en-ZA" smtClean="0"/>
              <a:t>‹#›</a:t>
            </a:fld>
            <a:endParaRPr lang="en-ZA"/>
          </a:p>
        </p:txBody>
      </p:sp>
    </p:spTree>
    <p:extLst>
      <p:ext uri="{BB962C8B-B14F-4D97-AF65-F5344CB8AC3E}">
        <p14:creationId xmlns:p14="http://schemas.microsoft.com/office/powerpoint/2010/main" val="4156530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0850C-72EF-ADB1-F72E-861B115C9867}"/>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380F3644-B028-765D-4FCE-7820C763E6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B6656A67-8E99-C324-B0B6-0D9DDF9D4385}"/>
              </a:ext>
            </a:extLst>
          </p:cNvPr>
          <p:cNvSpPr>
            <a:spLocks noGrp="1"/>
          </p:cNvSpPr>
          <p:nvPr>
            <p:ph type="dt" sz="half" idx="10"/>
          </p:nvPr>
        </p:nvSpPr>
        <p:spPr/>
        <p:txBody>
          <a:bodyPr/>
          <a:lstStyle/>
          <a:p>
            <a:fld id="{91FFDC35-C014-49C1-8996-BCAADA29AE34}" type="datetimeFigureOut">
              <a:rPr lang="en-ZA" smtClean="0"/>
              <a:t>2025/06/09</a:t>
            </a:fld>
            <a:endParaRPr lang="en-ZA"/>
          </a:p>
        </p:txBody>
      </p:sp>
      <p:sp>
        <p:nvSpPr>
          <p:cNvPr id="5" name="Footer Placeholder 4">
            <a:extLst>
              <a:ext uri="{FF2B5EF4-FFF2-40B4-BE49-F238E27FC236}">
                <a16:creationId xmlns:a16="http://schemas.microsoft.com/office/drawing/2014/main" id="{08D5F8AA-698D-EE18-0DAF-28106C330C1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85A5CE0-F84A-B052-D874-851A6182F943}"/>
              </a:ext>
            </a:extLst>
          </p:cNvPr>
          <p:cNvSpPr>
            <a:spLocks noGrp="1"/>
          </p:cNvSpPr>
          <p:nvPr>
            <p:ph type="sldNum" sz="quarter" idx="12"/>
          </p:nvPr>
        </p:nvSpPr>
        <p:spPr/>
        <p:txBody>
          <a:bodyPr/>
          <a:lstStyle/>
          <a:p>
            <a:fld id="{992DC8D3-103E-4278-9D51-03F333B6A860}" type="slidenum">
              <a:rPr lang="en-ZA" smtClean="0"/>
              <a:t>‹#›</a:t>
            </a:fld>
            <a:endParaRPr lang="en-ZA"/>
          </a:p>
        </p:txBody>
      </p:sp>
    </p:spTree>
    <p:extLst>
      <p:ext uri="{BB962C8B-B14F-4D97-AF65-F5344CB8AC3E}">
        <p14:creationId xmlns:p14="http://schemas.microsoft.com/office/powerpoint/2010/main" val="8915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F3D13-5E4F-BB6F-0B26-A5EADA345E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E4F1CC3D-B18C-1AA3-9133-CCFFB9CB00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C27844-21BD-2BC1-0117-B22264E9AB7D}"/>
              </a:ext>
            </a:extLst>
          </p:cNvPr>
          <p:cNvSpPr>
            <a:spLocks noGrp="1"/>
          </p:cNvSpPr>
          <p:nvPr>
            <p:ph type="dt" sz="half" idx="10"/>
          </p:nvPr>
        </p:nvSpPr>
        <p:spPr/>
        <p:txBody>
          <a:bodyPr/>
          <a:lstStyle/>
          <a:p>
            <a:fld id="{91FFDC35-C014-49C1-8996-BCAADA29AE34}" type="datetimeFigureOut">
              <a:rPr lang="en-ZA" smtClean="0"/>
              <a:t>2025/06/09</a:t>
            </a:fld>
            <a:endParaRPr lang="en-ZA"/>
          </a:p>
        </p:txBody>
      </p:sp>
      <p:sp>
        <p:nvSpPr>
          <p:cNvPr id="5" name="Footer Placeholder 4">
            <a:extLst>
              <a:ext uri="{FF2B5EF4-FFF2-40B4-BE49-F238E27FC236}">
                <a16:creationId xmlns:a16="http://schemas.microsoft.com/office/drawing/2014/main" id="{CF7627FE-DA18-00C9-3F14-D2A6345F387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5ACC96CE-7A09-6974-5F8C-F12571E5EA3A}"/>
              </a:ext>
            </a:extLst>
          </p:cNvPr>
          <p:cNvSpPr>
            <a:spLocks noGrp="1"/>
          </p:cNvSpPr>
          <p:nvPr>
            <p:ph type="sldNum" sz="quarter" idx="12"/>
          </p:nvPr>
        </p:nvSpPr>
        <p:spPr/>
        <p:txBody>
          <a:bodyPr/>
          <a:lstStyle/>
          <a:p>
            <a:fld id="{992DC8D3-103E-4278-9D51-03F333B6A860}" type="slidenum">
              <a:rPr lang="en-ZA" smtClean="0"/>
              <a:t>‹#›</a:t>
            </a:fld>
            <a:endParaRPr lang="en-ZA"/>
          </a:p>
        </p:txBody>
      </p:sp>
    </p:spTree>
    <p:extLst>
      <p:ext uri="{BB962C8B-B14F-4D97-AF65-F5344CB8AC3E}">
        <p14:creationId xmlns:p14="http://schemas.microsoft.com/office/powerpoint/2010/main" val="4024448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32D6F-4CFF-7B5A-F3C1-D73039B77427}"/>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BE126486-A955-55E3-AC71-3DE3D27352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B67B2749-5A10-053E-6DF3-43B11CD2E1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3AC83F04-1438-A233-1E95-00D10E3DD535}"/>
              </a:ext>
            </a:extLst>
          </p:cNvPr>
          <p:cNvSpPr>
            <a:spLocks noGrp="1"/>
          </p:cNvSpPr>
          <p:nvPr>
            <p:ph type="dt" sz="half" idx="10"/>
          </p:nvPr>
        </p:nvSpPr>
        <p:spPr/>
        <p:txBody>
          <a:bodyPr/>
          <a:lstStyle/>
          <a:p>
            <a:fld id="{91FFDC35-C014-49C1-8996-BCAADA29AE34}" type="datetimeFigureOut">
              <a:rPr lang="en-ZA" smtClean="0"/>
              <a:t>2025/06/09</a:t>
            </a:fld>
            <a:endParaRPr lang="en-ZA"/>
          </a:p>
        </p:txBody>
      </p:sp>
      <p:sp>
        <p:nvSpPr>
          <p:cNvPr id="6" name="Footer Placeholder 5">
            <a:extLst>
              <a:ext uri="{FF2B5EF4-FFF2-40B4-BE49-F238E27FC236}">
                <a16:creationId xmlns:a16="http://schemas.microsoft.com/office/drawing/2014/main" id="{16112726-9FD9-3DD3-B132-28AFFF3F0BDA}"/>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40C3C0FD-4612-6246-728D-08FCC6D3C675}"/>
              </a:ext>
            </a:extLst>
          </p:cNvPr>
          <p:cNvSpPr>
            <a:spLocks noGrp="1"/>
          </p:cNvSpPr>
          <p:nvPr>
            <p:ph type="sldNum" sz="quarter" idx="12"/>
          </p:nvPr>
        </p:nvSpPr>
        <p:spPr/>
        <p:txBody>
          <a:bodyPr/>
          <a:lstStyle/>
          <a:p>
            <a:fld id="{992DC8D3-103E-4278-9D51-03F333B6A860}" type="slidenum">
              <a:rPr lang="en-ZA" smtClean="0"/>
              <a:t>‹#›</a:t>
            </a:fld>
            <a:endParaRPr lang="en-ZA"/>
          </a:p>
        </p:txBody>
      </p:sp>
    </p:spTree>
    <p:extLst>
      <p:ext uri="{BB962C8B-B14F-4D97-AF65-F5344CB8AC3E}">
        <p14:creationId xmlns:p14="http://schemas.microsoft.com/office/powerpoint/2010/main" val="935099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D3467-A119-0D2F-8493-F88F2CC63C58}"/>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B6AE0C61-2143-0935-201A-CFBDC37BC0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B4DB8A-1A40-E80E-21AE-F8C6621F3F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70BCFF19-2F29-1A5A-15EF-2651392582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6655D7-DF28-36AE-31E2-833DD20CF5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5B590CC7-5EF7-4F55-A12B-97C83047A1C0}"/>
              </a:ext>
            </a:extLst>
          </p:cNvPr>
          <p:cNvSpPr>
            <a:spLocks noGrp="1"/>
          </p:cNvSpPr>
          <p:nvPr>
            <p:ph type="dt" sz="half" idx="10"/>
          </p:nvPr>
        </p:nvSpPr>
        <p:spPr/>
        <p:txBody>
          <a:bodyPr/>
          <a:lstStyle/>
          <a:p>
            <a:fld id="{91FFDC35-C014-49C1-8996-BCAADA29AE34}" type="datetimeFigureOut">
              <a:rPr lang="en-ZA" smtClean="0"/>
              <a:t>2025/06/09</a:t>
            </a:fld>
            <a:endParaRPr lang="en-ZA"/>
          </a:p>
        </p:txBody>
      </p:sp>
      <p:sp>
        <p:nvSpPr>
          <p:cNvPr id="8" name="Footer Placeholder 7">
            <a:extLst>
              <a:ext uri="{FF2B5EF4-FFF2-40B4-BE49-F238E27FC236}">
                <a16:creationId xmlns:a16="http://schemas.microsoft.com/office/drawing/2014/main" id="{EDA545E7-C808-D06B-9361-FEBB19731D43}"/>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1CEB751D-78F1-85D5-057A-6C3B770920DE}"/>
              </a:ext>
            </a:extLst>
          </p:cNvPr>
          <p:cNvSpPr>
            <a:spLocks noGrp="1"/>
          </p:cNvSpPr>
          <p:nvPr>
            <p:ph type="sldNum" sz="quarter" idx="12"/>
          </p:nvPr>
        </p:nvSpPr>
        <p:spPr/>
        <p:txBody>
          <a:bodyPr/>
          <a:lstStyle/>
          <a:p>
            <a:fld id="{992DC8D3-103E-4278-9D51-03F333B6A860}" type="slidenum">
              <a:rPr lang="en-ZA" smtClean="0"/>
              <a:t>‹#›</a:t>
            </a:fld>
            <a:endParaRPr lang="en-ZA"/>
          </a:p>
        </p:txBody>
      </p:sp>
    </p:spTree>
    <p:extLst>
      <p:ext uri="{BB962C8B-B14F-4D97-AF65-F5344CB8AC3E}">
        <p14:creationId xmlns:p14="http://schemas.microsoft.com/office/powerpoint/2010/main" val="1975733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F7C89-3BBF-CD1B-F3BB-BD883BC12A0F}"/>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BAAC137D-40CE-C796-7464-243C930BCA44}"/>
              </a:ext>
            </a:extLst>
          </p:cNvPr>
          <p:cNvSpPr>
            <a:spLocks noGrp="1"/>
          </p:cNvSpPr>
          <p:nvPr>
            <p:ph type="dt" sz="half" idx="10"/>
          </p:nvPr>
        </p:nvSpPr>
        <p:spPr/>
        <p:txBody>
          <a:bodyPr/>
          <a:lstStyle/>
          <a:p>
            <a:fld id="{91FFDC35-C014-49C1-8996-BCAADA29AE34}" type="datetimeFigureOut">
              <a:rPr lang="en-ZA" smtClean="0"/>
              <a:t>2025/06/09</a:t>
            </a:fld>
            <a:endParaRPr lang="en-ZA"/>
          </a:p>
        </p:txBody>
      </p:sp>
      <p:sp>
        <p:nvSpPr>
          <p:cNvPr id="4" name="Footer Placeholder 3">
            <a:extLst>
              <a:ext uri="{FF2B5EF4-FFF2-40B4-BE49-F238E27FC236}">
                <a16:creationId xmlns:a16="http://schemas.microsoft.com/office/drawing/2014/main" id="{1159805C-7CFE-D497-B28B-BFE34996CCC7}"/>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5FD92145-9389-F6ED-B781-7D09A3E0279E}"/>
              </a:ext>
            </a:extLst>
          </p:cNvPr>
          <p:cNvSpPr>
            <a:spLocks noGrp="1"/>
          </p:cNvSpPr>
          <p:nvPr>
            <p:ph type="sldNum" sz="quarter" idx="12"/>
          </p:nvPr>
        </p:nvSpPr>
        <p:spPr/>
        <p:txBody>
          <a:bodyPr/>
          <a:lstStyle/>
          <a:p>
            <a:fld id="{992DC8D3-103E-4278-9D51-03F333B6A860}" type="slidenum">
              <a:rPr lang="en-ZA" smtClean="0"/>
              <a:t>‹#›</a:t>
            </a:fld>
            <a:endParaRPr lang="en-ZA"/>
          </a:p>
        </p:txBody>
      </p:sp>
    </p:spTree>
    <p:extLst>
      <p:ext uri="{BB962C8B-B14F-4D97-AF65-F5344CB8AC3E}">
        <p14:creationId xmlns:p14="http://schemas.microsoft.com/office/powerpoint/2010/main" val="1013967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BE81B6-E4D5-2B9E-248B-88422D1D1C07}"/>
              </a:ext>
            </a:extLst>
          </p:cNvPr>
          <p:cNvSpPr>
            <a:spLocks noGrp="1"/>
          </p:cNvSpPr>
          <p:nvPr>
            <p:ph type="dt" sz="half" idx="10"/>
          </p:nvPr>
        </p:nvSpPr>
        <p:spPr/>
        <p:txBody>
          <a:bodyPr/>
          <a:lstStyle/>
          <a:p>
            <a:fld id="{91FFDC35-C014-49C1-8996-BCAADA29AE34}" type="datetimeFigureOut">
              <a:rPr lang="en-ZA" smtClean="0"/>
              <a:t>2025/06/09</a:t>
            </a:fld>
            <a:endParaRPr lang="en-ZA"/>
          </a:p>
        </p:txBody>
      </p:sp>
      <p:sp>
        <p:nvSpPr>
          <p:cNvPr id="3" name="Footer Placeholder 2">
            <a:extLst>
              <a:ext uri="{FF2B5EF4-FFF2-40B4-BE49-F238E27FC236}">
                <a16:creationId xmlns:a16="http://schemas.microsoft.com/office/drawing/2014/main" id="{9C996FDF-B620-5F52-5782-E1577E6AF3CF}"/>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8E96871B-AFEE-90DF-3D95-D27FB06FB2C1}"/>
              </a:ext>
            </a:extLst>
          </p:cNvPr>
          <p:cNvSpPr>
            <a:spLocks noGrp="1"/>
          </p:cNvSpPr>
          <p:nvPr>
            <p:ph type="sldNum" sz="quarter" idx="12"/>
          </p:nvPr>
        </p:nvSpPr>
        <p:spPr/>
        <p:txBody>
          <a:bodyPr/>
          <a:lstStyle/>
          <a:p>
            <a:fld id="{992DC8D3-103E-4278-9D51-03F333B6A860}" type="slidenum">
              <a:rPr lang="en-ZA" smtClean="0"/>
              <a:t>‹#›</a:t>
            </a:fld>
            <a:endParaRPr lang="en-ZA"/>
          </a:p>
        </p:txBody>
      </p:sp>
    </p:spTree>
    <p:extLst>
      <p:ext uri="{BB962C8B-B14F-4D97-AF65-F5344CB8AC3E}">
        <p14:creationId xmlns:p14="http://schemas.microsoft.com/office/powerpoint/2010/main" val="1187033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F8982-3887-9EDF-C0C5-E7E32BE57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DDB41121-B333-E043-1100-4C87E73931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E34F2489-E9B9-346B-7C0E-9FFB65FEBF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B55BB4-FB87-B0D8-2B59-B6F1DD8CD9A9}"/>
              </a:ext>
            </a:extLst>
          </p:cNvPr>
          <p:cNvSpPr>
            <a:spLocks noGrp="1"/>
          </p:cNvSpPr>
          <p:nvPr>
            <p:ph type="dt" sz="half" idx="10"/>
          </p:nvPr>
        </p:nvSpPr>
        <p:spPr/>
        <p:txBody>
          <a:bodyPr/>
          <a:lstStyle/>
          <a:p>
            <a:fld id="{91FFDC35-C014-49C1-8996-BCAADA29AE34}" type="datetimeFigureOut">
              <a:rPr lang="en-ZA" smtClean="0"/>
              <a:t>2025/06/09</a:t>
            </a:fld>
            <a:endParaRPr lang="en-ZA"/>
          </a:p>
        </p:txBody>
      </p:sp>
      <p:sp>
        <p:nvSpPr>
          <p:cNvPr id="6" name="Footer Placeholder 5">
            <a:extLst>
              <a:ext uri="{FF2B5EF4-FFF2-40B4-BE49-F238E27FC236}">
                <a16:creationId xmlns:a16="http://schemas.microsoft.com/office/drawing/2014/main" id="{289373DE-D26D-78CC-2BB2-38D63A7EBED9}"/>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92508FFF-A8CD-944B-2E4D-AE15FB638844}"/>
              </a:ext>
            </a:extLst>
          </p:cNvPr>
          <p:cNvSpPr>
            <a:spLocks noGrp="1"/>
          </p:cNvSpPr>
          <p:nvPr>
            <p:ph type="sldNum" sz="quarter" idx="12"/>
          </p:nvPr>
        </p:nvSpPr>
        <p:spPr/>
        <p:txBody>
          <a:bodyPr/>
          <a:lstStyle/>
          <a:p>
            <a:fld id="{992DC8D3-103E-4278-9D51-03F333B6A860}" type="slidenum">
              <a:rPr lang="en-ZA" smtClean="0"/>
              <a:t>‹#›</a:t>
            </a:fld>
            <a:endParaRPr lang="en-ZA"/>
          </a:p>
        </p:txBody>
      </p:sp>
    </p:spTree>
    <p:extLst>
      <p:ext uri="{BB962C8B-B14F-4D97-AF65-F5344CB8AC3E}">
        <p14:creationId xmlns:p14="http://schemas.microsoft.com/office/powerpoint/2010/main" val="3600245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D3D7D-31D5-EDED-273A-7282222DC9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705AB78D-74D8-7B3F-8B01-27432CB2D1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AC0EBDF0-49CB-7DA5-DC83-1C73D0AF9C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5E3C57-4C2B-ECDC-F052-628C59E5DB4B}"/>
              </a:ext>
            </a:extLst>
          </p:cNvPr>
          <p:cNvSpPr>
            <a:spLocks noGrp="1"/>
          </p:cNvSpPr>
          <p:nvPr>
            <p:ph type="dt" sz="half" idx="10"/>
          </p:nvPr>
        </p:nvSpPr>
        <p:spPr/>
        <p:txBody>
          <a:bodyPr/>
          <a:lstStyle/>
          <a:p>
            <a:fld id="{91FFDC35-C014-49C1-8996-BCAADA29AE34}" type="datetimeFigureOut">
              <a:rPr lang="en-ZA" smtClean="0"/>
              <a:t>2025/06/09</a:t>
            </a:fld>
            <a:endParaRPr lang="en-ZA"/>
          </a:p>
        </p:txBody>
      </p:sp>
      <p:sp>
        <p:nvSpPr>
          <p:cNvPr id="6" name="Footer Placeholder 5">
            <a:extLst>
              <a:ext uri="{FF2B5EF4-FFF2-40B4-BE49-F238E27FC236}">
                <a16:creationId xmlns:a16="http://schemas.microsoft.com/office/drawing/2014/main" id="{36D7757E-D3C0-141E-193C-40E73F295774}"/>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10048764-EFD6-1C3C-E870-E8B3A3C38527}"/>
              </a:ext>
            </a:extLst>
          </p:cNvPr>
          <p:cNvSpPr>
            <a:spLocks noGrp="1"/>
          </p:cNvSpPr>
          <p:nvPr>
            <p:ph type="sldNum" sz="quarter" idx="12"/>
          </p:nvPr>
        </p:nvSpPr>
        <p:spPr/>
        <p:txBody>
          <a:bodyPr/>
          <a:lstStyle/>
          <a:p>
            <a:fld id="{992DC8D3-103E-4278-9D51-03F333B6A860}" type="slidenum">
              <a:rPr lang="en-ZA" smtClean="0"/>
              <a:t>‹#›</a:t>
            </a:fld>
            <a:endParaRPr lang="en-ZA"/>
          </a:p>
        </p:txBody>
      </p:sp>
    </p:spTree>
    <p:extLst>
      <p:ext uri="{BB962C8B-B14F-4D97-AF65-F5344CB8AC3E}">
        <p14:creationId xmlns:p14="http://schemas.microsoft.com/office/powerpoint/2010/main" val="1463844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46850-DC65-1A30-F46D-9DC1DD4EB739}"/>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F4D59957-B4FB-15BA-1A8E-9806026412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0A4CB26-C1E7-5657-8D87-1D60C57E73B2}"/>
              </a:ext>
            </a:extLst>
          </p:cNvPr>
          <p:cNvSpPr>
            <a:spLocks noGrp="1"/>
          </p:cNvSpPr>
          <p:nvPr>
            <p:ph type="dt" sz="half" idx="10"/>
          </p:nvPr>
        </p:nvSpPr>
        <p:spPr/>
        <p:txBody>
          <a:bodyPr/>
          <a:lstStyle/>
          <a:p>
            <a:fld id="{91FFDC35-C014-49C1-8996-BCAADA29AE34}" type="datetimeFigureOut">
              <a:rPr lang="en-ZA" smtClean="0"/>
              <a:t>2025/06/09</a:t>
            </a:fld>
            <a:endParaRPr lang="en-ZA"/>
          </a:p>
        </p:txBody>
      </p:sp>
      <p:sp>
        <p:nvSpPr>
          <p:cNvPr id="5" name="Footer Placeholder 4">
            <a:extLst>
              <a:ext uri="{FF2B5EF4-FFF2-40B4-BE49-F238E27FC236}">
                <a16:creationId xmlns:a16="http://schemas.microsoft.com/office/drawing/2014/main" id="{4D9D6521-8697-4460-995D-057D988D6714}"/>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F09BE24-EF07-4820-45F5-D8C95E23ECAB}"/>
              </a:ext>
            </a:extLst>
          </p:cNvPr>
          <p:cNvSpPr>
            <a:spLocks noGrp="1"/>
          </p:cNvSpPr>
          <p:nvPr>
            <p:ph type="sldNum" sz="quarter" idx="12"/>
          </p:nvPr>
        </p:nvSpPr>
        <p:spPr/>
        <p:txBody>
          <a:bodyPr/>
          <a:lstStyle/>
          <a:p>
            <a:fld id="{992DC8D3-103E-4278-9D51-03F333B6A860}" type="slidenum">
              <a:rPr lang="en-ZA" smtClean="0"/>
              <a:t>‹#›</a:t>
            </a:fld>
            <a:endParaRPr lang="en-ZA"/>
          </a:p>
        </p:txBody>
      </p:sp>
    </p:spTree>
    <p:extLst>
      <p:ext uri="{BB962C8B-B14F-4D97-AF65-F5344CB8AC3E}">
        <p14:creationId xmlns:p14="http://schemas.microsoft.com/office/powerpoint/2010/main" val="149905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37A812-4C96-F05C-3348-B96A05B0BEE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F74FA7D3-DDF5-5BF6-FBA1-AC63736C6D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E0B51543-EB77-2418-64E2-E8257E62ADC3}"/>
              </a:ext>
            </a:extLst>
          </p:cNvPr>
          <p:cNvSpPr>
            <a:spLocks noGrp="1"/>
          </p:cNvSpPr>
          <p:nvPr>
            <p:ph type="dt" sz="half" idx="10"/>
          </p:nvPr>
        </p:nvSpPr>
        <p:spPr/>
        <p:txBody>
          <a:bodyPr/>
          <a:lstStyle/>
          <a:p>
            <a:fld id="{91FFDC35-C014-49C1-8996-BCAADA29AE34}" type="datetimeFigureOut">
              <a:rPr lang="en-ZA" smtClean="0"/>
              <a:t>2025/06/09</a:t>
            </a:fld>
            <a:endParaRPr lang="en-ZA"/>
          </a:p>
        </p:txBody>
      </p:sp>
      <p:sp>
        <p:nvSpPr>
          <p:cNvPr id="5" name="Footer Placeholder 4">
            <a:extLst>
              <a:ext uri="{FF2B5EF4-FFF2-40B4-BE49-F238E27FC236}">
                <a16:creationId xmlns:a16="http://schemas.microsoft.com/office/drawing/2014/main" id="{17ACB9D0-20B3-88B3-DF51-EB931533FA72}"/>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EE366A5-E779-1083-DEF2-C9FE2658A7DE}"/>
              </a:ext>
            </a:extLst>
          </p:cNvPr>
          <p:cNvSpPr>
            <a:spLocks noGrp="1"/>
          </p:cNvSpPr>
          <p:nvPr>
            <p:ph type="sldNum" sz="quarter" idx="12"/>
          </p:nvPr>
        </p:nvSpPr>
        <p:spPr/>
        <p:txBody>
          <a:bodyPr/>
          <a:lstStyle/>
          <a:p>
            <a:fld id="{992DC8D3-103E-4278-9D51-03F333B6A860}" type="slidenum">
              <a:rPr lang="en-ZA" smtClean="0"/>
              <a:t>‹#›</a:t>
            </a:fld>
            <a:endParaRPr lang="en-ZA"/>
          </a:p>
        </p:txBody>
      </p:sp>
    </p:spTree>
    <p:extLst>
      <p:ext uri="{BB962C8B-B14F-4D97-AF65-F5344CB8AC3E}">
        <p14:creationId xmlns:p14="http://schemas.microsoft.com/office/powerpoint/2010/main" val="4078122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43B2DA-32C1-6FD4-361D-75999B0917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296F437C-41C7-E308-1C4B-D4514CBC24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C718FB0-E274-CEF1-C8EB-4D477A5A2E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1FFDC35-C014-49C1-8996-BCAADA29AE34}" type="datetimeFigureOut">
              <a:rPr lang="en-ZA" smtClean="0"/>
              <a:t>2025/06/09</a:t>
            </a:fld>
            <a:endParaRPr lang="en-ZA"/>
          </a:p>
        </p:txBody>
      </p:sp>
      <p:sp>
        <p:nvSpPr>
          <p:cNvPr id="5" name="Footer Placeholder 4">
            <a:extLst>
              <a:ext uri="{FF2B5EF4-FFF2-40B4-BE49-F238E27FC236}">
                <a16:creationId xmlns:a16="http://schemas.microsoft.com/office/drawing/2014/main" id="{20D4C5EF-6048-1A02-2295-22602A20FF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2426E460-CBC7-C253-79C9-DFFACA8A06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2DC8D3-103E-4278-9D51-03F333B6A860}" type="slidenum">
              <a:rPr lang="en-ZA" smtClean="0"/>
              <a:t>‹#›</a:t>
            </a:fld>
            <a:endParaRPr lang="en-ZA"/>
          </a:p>
        </p:txBody>
      </p:sp>
    </p:spTree>
    <p:extLst>
      <p:ext uri="{BB962C8B-B14F-4D97-AF65-F5344CB8AC3E}">
        <p14:creationId xmlns:p14="http://schemas.microsoft.com/office/powerpoint/2010/main" val="11456651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oup of men working on a power line&#10;&#10;AI-generated content may be incorrect.">
            <a:extLst>
              <a:ext uri="{FF2B5EF4-FFF2-40B4-BE49-F238E27FC236}">
                <a16:creationId xmlns:a16="http://schemas.microsoft.com/office/drawing/2014/main" id="{735238D8-50EF-2C24-4D2C-F95AC6F559F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5858"/>
          <a:stretch/>
        </p:blipFill>
        <p:spPr>
          <a:xfrm>
            <a:off x="20" y="10"/>
            <a:ext cx="12191980" cy="6857990"/>
          </a:xfrm>
          <a:prstGeom prst="rect">
            <a:avLst/>
          </a:prstGeom>
          <a:solidFill>
            <a:schemeClr val="bg1"/>
          </a:solidFill>
        </p:spPr>
      </p:pic>
      <p:sp>
        <p:nvSpPr>
          <p:cNvPr id="6" name="TextBox 5">
            <a:extLst>
              <a:ext uri="{FF2B5EF4-FFF2-40B4-BE49-F238E27FC236}">
                <a16:creationId xmlns:a16="http://schemas.microsoft.com/office/drawing/2014/main" id="{F43054B5-AC82-6632-C1FE-59C8B23C4EA2}"/>
              </a:ext>
            </a:extLst>
          </p:cNvPr>
          <p:cNvSpPr txBox="1"/>
          <p:nvPr/>
        </p:nvSpPr>
        <p:spPr>
          <a:xfrm>
            <a:off x="523875" y="310052"/>
            <a:ext cx="11210925" cy="646331"/>
          </a:xfrm>
          <a:prstGeom prst="rect">
            <a:avLst/>
          </a:prstGeom>
          <a:solidFill>
            <a:schemeClr val="bg1"/>
          </a:solidFill>
        </p:spPr>
        <p:txBody>
          <a:bodyPr wrap="square" rtlCol="0">
            <a:spAutoFit/>
          </a:bodyPr>
          <a:lstStyle/>
          <a:p>
            <a:r>
              <a:rPr lang="fr-FR" sz="3600" dirty="0">
                <a:solidFill>
                  <a:schemeClr val="tx1">
                    <a:lumMod val="85000"/>
                    <a:lumOff val="15000"/>
                  </a:schemeClr>
                </a:solidFill>
                <a:latin typeface="+mj-lt"/>
                <a:ea typeface="+mj-ea"/>
                <a:cs typeface="+mj-cs"/>
              </a:rPr>
              <a:t>118573	</a:t>
            </a:r>
            <a:r>
              <a:rPr lang="en-ZA" sz="3600" dirty="0">
                <a:solidFill>
                  <a:schemeClr val="tx1">
                    <a:lumMod val="85000"/>
                    <a:lumOff val="15000"/>
                  </a:schemeClr>
                </a:solidFill>
                <a:latin typeface="+mj-lt"/>
                <a:ea typeface="+mj-ea"/>
                <a:cs typeface="+mj-cs"/>
              </a:rPr>
              <a:t>WIP</a:t>
            </a:r>
          </a:p>
        </p:txBody>
      </p:sp>
      <p:graphicFrame>
        <p:nvGraphicFramePr>
          <p:cNvPr id="7" name="Table 6">
            <a:extLst>
              <a:ext uri="{FF2B5EF4-FFF2-40B4-BE49-F238E27FC236}">
                <a16:creationId xmlns:a16="http://schemas.microsoft.com/office/drawing/2014/main" id="{F8FD3530-3CAB-1B59-3EDD-BC2084747A31}"/>
              </a:ext>
            </a:extLst>
          </p:cNvPr>
          <p:cNvGraphicFramePr>
            <a:graphicFrameLocks noGrp="1"/>
          </p:cNvGraphicFramePr>
          <p:nvPr/>
        </p:nvGraphicFramePr>
        <p:xfrm>
          <a:off x="838200" y="3818414"/>
          <a:ext cx="10515600" cy="365760"/>
        </p:xfrm>
        <a:graphic>
          <a:graphicData uri="http://schemas.openxmlformats.org/drawingml/2006/table">
            <a:tbl>
              <a:tblPr/>
              <a:tblGrid>
                <a:gridCol w="5257800">
                  <a:extLst>
                    <a:ext uri="{9D8B030D-6E8A-4147-A177-3AD203B41FA5}">
                      <a16:colId xmlns:a16="http://schemas.microsoft.com/office/drawing/2014/main" val="3806824311"/>
                    </a:ext>
                  </a:extLst>
                </a:gridCol>
                <a:gridCol w="5257800">
                  <a:extLst>
                    <a:ext uri="{9D8B030D-6E8A-4147-A177-3AD203B41FA5}">
                      <a16:colId xmlns:a16="http://schemas.microsoft.com/office/drawing/2014/main" val="485160925"/>
                    </a:ext>
                  </a:extLst>
                </a:gridCol>
              </a:tblGrid>
              <a:tr h="0">
                <a:tc>
                  <a:txBody>
                    <a:bodyPr/>
                    <a:lstStyle/>
                    <a:p>
                      <a:endParaRPr lang="en-ZA" dirty="0">
                        <a:effectLst/>
                      </a:endParaRPr>
                    </a:p>
                  </a:txBody>
                  <a:tcPr anchor="ctr">
                    <a:lnL>
                      <a:noFill/>
                    </a:lnL>
                    <a:lnR>
                      <a:noFill/>
                    </a:lnR>
                    <a:lnT>
                      <a:noFill/>
                    </a:lnT>
                    <a:lnB>
                      <a:noFill/>
                    </a:lnB>
                    <a:noFill/>
                  </a:tcPr>
                </a:tc>
                <a:tc>
                  <a:txBody>
                    <a:bodyPr/>
                    <a:lstStyle/>
                    <a:p>
                      <a:endParaRPr lang="en-ZA" dirty="0">
                        <a:effectLst/>
                      </a:endParaRPr>
                    </a:p>
                  </a:txBody>
                  <a:tcPr anchor="ctr">
                    <a:lnL>
                      <a:noFill/>
                    </a:lnL>
                    <a:lnR>
                      <a:noFill/>
                    </a:lnR>
                    <a:lnT>
                      <a:noFill/>
                    </a:lnT>
                    <a:lnB>
                      <a:noFill/>
                    </a:lnB>
                    <a:noFill/>
                  </a:tcPr>
                </a:tc>
                <a:extLst>
                  <a:ext uri="{0D108BD9-81ED-4DB2-BD59-A6C34878D82A}">
                    <a16:rowId xmlns:a16="http://schemas.microsoft.com/office/drawing/2014/main" val="120458332"/>
                  </a:ext>
                </a:extLst>
              </a:tr>
            </a:tbl>
          </a:graphicData>
        </a:graphic>
      </p:graphicFrame>
      <p:sp>
        <p:nvSpPr>
          <p:cNvPr id="8" name="Rectangle 1">
            <a:extLst>
              <a:ext uri="{FF2B5EF4-FFF2-40B4-BE49-F238E27FC236}">
                <a16:creationId xmlns:a16="http://schemas.microsoft.com/office/drawing/2014/main" id="{8897BE71-7BA2-AF93-26C8-A01979FBA3A3}"/>
              </a:ext>
            </a:extLst>
          </p:cNvPr>
          <p:cNvSpPr>
            <a:spLocks noChangeArrowheads="1"/>
          </p:cNvSpPr>
          <p:nvPr/>
        </p:nvSpPr>
        <p:spPr bwMode="auto">
          <a:xfrm>
            <a:off x="838200" y="38179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ZA"/>
          </a:p>
        </p:txBody>
      </p:sp>
      <p:sp>
        <p:nvSpPr>
          <p:cNvPr id="11" name="Rectangle 2">
            <a:extLst>
              <a:ext uri="{FF2B5EF4-FFF2-40B4-BE49-F238E27FC236}">
                <a16:creationId xmlns:a16="http://schemas.microsoft.com/office/drawing/2014/main" id="{2E687C39-F6E5-1FF2-05ED-1637F3047F77}"/>
              </a:ext>
            </a:extLst>
          </p:cNvPr>
          <p:cNvSpPr>
            <a:spLocks noChangeArrowheads="1"/>
          </p:cNvSpPr>
          <p:nvPr/>
        </p:nvSpPr>
        <p:spPr bwMode="auto">
          <a:xfrm>
            <a:off x="838200" y="38179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ZA"/>
          </a:p>
        </p:txBody>
      </p:sp>
      <p:sp>
        <p:nvSpPr>
          <p:cNvPr id="15" name="Rectangle 3">
            <a:extLst>
              <a:ext uri="{FF2B5EF4-FFF2-40B4-BE49-F238E27FC236}">
                <a16:creationId xmlns:a16="http://schemas.microsoft.com/office/drawing/2014/main" id="{FEF7F108-BE4B-58E5-8FC1-024C349631DA}"/>
              </a:ext>
            </a:extLst>
          </p:cNvPr>
          <p:cNvSpPr>
            <a:spLocks noChangeArrowheads="1"/>
          </p:cNvSpPr>
          <p:nvPr/>
        </p:nvSpPr>
        <p:spPr bwMode="auto">
          <a:xfrm>
            <a:off x="838200" y="36814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ZA"/>
          </a:p>
        </p:txBody>
      </p:sp>
    </p:spTree>
    <p:extLst>
      <p:ext uri="{BB962C8B-B14F-4D97-AF65-F5344CB8AC3E}">
        <p14:creationId xmlns:p14="http://schemas.microsoft.com/office/powerpoint/2010/main" val="11220220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A2E3D5F-6806-6E12-4C89-E8B32B69C434}"/>
              </a:ext>
            </a:extLst>
          </p:cNvPr>
          <p:cNvSpPr>
            <a:spLocks noGrp="1"/>
          </p:cNvSpPr>
          <p:nvPr>
            <p:ph type="title"/>
          </p:nvPr>
        </p:nvSpPr>
        <p:spPr>
          <a:xfrm>
            <a:off x="490537" y="395919"/>
            <a:ext cx="11210925" cy="744836"/>
          </a:xfrm>
          <a:solidFill>
            <a:schemeClr val="bg1"/>
          </a:solidFill>
        </p:spPr>
        <p:txBody>
          <a:bodyPr vert="horz" lIns="91440" tIns="45720" rIns="91440" bIns="45720" rtlCol="0" anchor="ctr">
            <a:normAutofit/>
          </a:bodyPr>
          <a:lstStyle/>
          <a:p>
            <a:pPr algn="ctr"/>
            <a:r>
              <a:rPr lang="en-US" sz="3600" dirty="0">
                <a:solidFill>
                  <a:schemeClr val="tx1">
                    <a:lumMod val="85000"/>
                    <a:lumOff val="15000"/>
                  </a:schemeClr>
                </a:solidFill>
              </a:rPr>
              <a:t>WIP</a:t>
            </a:r>
          </a:p>
        </p:txBody>
      </p:sp>
      <p:pic>
        <p:nvPicPr>
          <p:cNvPr id="4" name="Picture 3">
            <a:extLst>
              <a:ext uri="{FF2B5EF4-FFF2-40B4-BE49-F238E27FC236}">
                <a16:creationId xmlns:a16="http://schemas.microsoft.com/office/drawing/2014/main" id="{6DCCAE67-1CA0-1205-BF9C-88EAD41DC041}"/>
              </a:ext>
            </a:extLst>
          </p:cNvPr>
          <p:cNvPicPr>
            <a:picLocks noChangeAspect="1"/>
          </p:cNvPicPr>
          <p:nvPr/>
        </p:nvPicPr>
        <p:blipFill>
          <a:blip r:embed="rId2"/>
          <a:stretch>
            <a:fillRect/>
          </a:stretch>
        </p:blipFill>
        <p:spPr>
          <a:xfrm>
            <a:off x="51543" y="1251528"/>
            <a:ext cx="12088912" cy="819264"/>
          </a:xfrm>
          <a:prstGeom prst="rect">
            <a:avLst/>
          </a:prstGeom>
        </p:spPr>
      </p:pic>
      <p:pic>
        <p:nvPicPr>
          <p:cNvPr id="7" name="Picture 6">
            <a:extLst>
              <a:ext uri="{FF2B5EF4-FFF2-40B4-BE49-F238E27FC236}">
                <a16:creationId xmlns:a16="http://schemas.microsoft.com/office/drawing/2014/main" id="{CDA039E4-8EB8-BAFB-08E1-82EF514301E7}"/>
              </a:ext>
            </a:extLst>
          </p:cNvPr>
          <p:cNvPicPr>
            <a:picLocks noChangeAspect="1"/>
          </p:cNvPicPr>
          <p:nvPr/>
        </p:nvPicPr>
        <p:blipFill>
          <a:blip r:embed="rId3"/>
          <a:stretch>
            <a:fillRect/>
          </a:stretch>
        </p:blipFill>
        <p:spPr>
          <a:xfrm>
            <a:off x="959675" y="1756127"/>
            <a:ext cx="1819529" cy="314369"/>
          </a:xfrm>
          <a:prstGeom prst="rect">
            <a:avLst/>
          </a:prstGeom>
        </p:spPr>
      </p:pic>
      <p:pic>
        <p:nvPicPr>
          <p:cNvPr id="9" name="Picture 8">
            <a:extLst>
              <a:ext uri="{FF2B5EF4-FFF2-40B4-BE49-F238E27FC236}">
                <a16:creationId xmlns:a16="http://schemas.microsoft.com/office/drawing/2014/main" id="{E3FE650A-EC70-08F4-1334-FFB38AF0C99A}"/>
              </a:ext>
            </a:extLst>
          </p:cNvPr>
          <p:cNvPicPr>
            <a:picLocks noChangeAspect="1"/>
          </p:cNvPicPr>
          <p:nvPr/>
        </p:nvPicPr>
        <p:blipFill>
          <a:blip r:embed="rId4"/>
          <a:stretch>
            <a:fillRect/>
          </a:stretch>
        </p:blipFill>
        <p:spPr>
          <a:xfrm>
            <a:off x="1601516" y="1798310"/>
            <a:ext cx="8440328" cy="257211"/>
          </a:xfrm>
          <a:prstGeom prst="rect">
            <a:avLst/>
          </a:prstGeom>
        </p:spPr>
      </p:pic>
      <p:sp>
        <p:nvSpPr>
          <p:cNvPr id="10" name="TextBox 9">
            <a:extLst>
              <a:ext uri="{FF2B5EF4-FFF2-40B4-BE49-F238E27FC236}">
                <a16:creationId xmlns:a16="http://schemas.microsoft.com/office/drawing/2014/main" id="{213E87F8-EDDD-1631-C5C5-DF684ABE0175}"/>
              </a:ext>
            </a:extLst>
          </p:cNvPr>
          <p:cNvSpPr txBox="1"/>
          <p:nvPr/>
        </p:nvSpPr>
        <p:spPr>
          <a:xfrm>
            <a:off x="1071435" y="1778255"/>
            <a:ext cx="914400" cy="276999"/>
          </a:xfrm>
          <a:prstGeom prst="rect">
            <a:avLst/>
          </a:prstGeom>
          <a:noFill/>
        </p:spPr>
        <p:txBody>
          <a:bodyPr wrap="square" rtlCol="0">
            <a:spAutoFit/>
          </a:bodyPr>
          <a:lstStyle/>
          <a:p>
            <a:r>
              <a:rPr lang="en-ZA" sz="1200" dirty="0"/>
              <a:t>WIP</a:t>
            </a:r>
          </a:p>
        </p:txBody>
      </p:sp>
      <p:sp>
        <p:nvSpPr>
          <p:cNvPr id="11" name="Rectangle: Rounded Corners 10">
            <a:extLst>
              <a:ext uri="{FF2B5EF4-FFF2-40B4-BE49-F238E27FC236}">
                <a16:creationId xmlns:a16="http://schemas.microsoft.com/office/drawing/2014/main" id="{31ACA5F8-DD87-A638-30B4-9532BFB1D554}"/>
              </a:ext>
            </a:extLst>
          </p:cNvPr>
          <p:cNvSpPr/>
          <p:nvPr/>
        </p:nvSpPr>
        <p:spPr>
          <a:xfrm>
            <a:off x="971596" y="1708643"/>
            <a:ext cx="629920" cy="409336"/>
          </a:xfrm>
          <a:prstGeom prst="roundRect">
            <a:avLst/>
          </a:pr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2" name="TextBox 11">
            <a:extLst>
              <a:ext uri="{FF2B5EF4-FFF2-40B4-BE49-F238E27FC236}">
                <a16:creationId xmlns:a16="http://schemas.microsoft.com/office/drawing/2014/main" id="{16240A57-E835-9F28-3988-E3CCD7293943}"/>
              </a:ext>
            </a:extLst>
          </p:cNvPr>
          <p:cNvSpPr txBox="1"/>
          <p:nvPr/>
        </p:nvSpPr>
        <p:spPr>
          <a:xfrm>
            <a:off x="169069" y="2390428"/>
            <a:ext cx="11305222" cy="369332"/>
          </a:xfrm>
          <a:prstGeom prst="rect">
            <a:avLst/>
          </a:prstGeom>
          <a:noFill/>
        </p:spPr>
        <p:txBody>
          <a:bodyPr wrap="square" rtlCol="0">
            <a:spAutoFit/>
          </a:bodyPr>
          <a:lstStyle/>
          <a:p>
            <a:r>
              <a:rPr lang="en-ZA" dirty="0"/>
              <a:t>1.	On the Asset Landing Page, add the Following Menu Item - WIP</a:t>
            </a:r>
          </a:p>
        </p:txBody>
      </p:sp>
    </p:spTree>
    <p:extLst>
      <p:ext uri="{BB962C8B-B14F-4D97-AF65-F5344CB8AC3E}">
        <p14:creationId xmlns:p14="http://schemas.microsoft.com/office/powerpoint/2010/main" val="4181415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0369D-2EDA-24CE-A660-023F7C1275E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93852AA-70E2-ED57-F7BD-CAA3BBDA5F96}"/>
              </a:ext>
            </a:extLst>
          </p:cNvPr>
          <p:cNvSpPr>
            <a:spLocks noGrp="1"/>
          </p:cNvSpPr>
          <p:nvPr>
            <p:ph type="title"/>
          </p:nvPr>
        </p:nvSpPr>
        <p:spPr>
          <a:xfrm>
            <a:off x="490537" y="86444"/>
            <a:ext cx="11210925" cy="744836"/>
          </a:xfrm>
          <a:solidFill>
            <a:schemeClr val="bg1"/>
          </a:solidFill>
        </p:spPr>
        <p:txBody>
          <a:bodyPr vert="horz" lIns="91440" tIns="45720" rIns="91440" bIns="45720" rtlCol="0" anchor="ctr">
            <a:normAutofit/>
          </a:bodyPr>
          <a:lstStyle/>
          <a:p>
            <a:pPr algn="ctr"/>
            <a:r>
              <a:rPr lang="en-US" sz="3600" dirty="0">
                <a:solidFill>
                  <a:schemeClr val="tx1">
                    <a:lumMod val="85000"/>
                    <a:lumOff val="15000"/>
                  </a:schemeClr>
                </a:solidFill>
              </a:rPr>
              <a:t>WIP</a:t>
            </a:r>
          </a:p>
        </p:txBody>
      </p:sp>
      <p:sp>
        <p:nvSpPr>
          <p:cNvPr id="11" name="Rectangle: Rounded Corners 10">
            <a:extLst>
              <a:ext uri="{FF2B5EF4-FFF2-40B4-BE49-F238E27FC236}">
                <a16:creationId xmlns:a16="http://schemas.microsoft.com/office/drawing/2014/main" id="{45DE5C76-2F19-A4E1-1660-28A51A42CFCA}"/>
              </a:ext>
            </a:extLst>
          </p:cNvPr>
          <p:cNvSpPr/>
          <p:nvPr/>
        </p:nvSpPr>
        <p:spPr>
          <a:xfrm>
            <a:off x="11159331" y="340444"/>
            <a:ext cx="629920" cy="409336"/>
          </a:xfrm>
          <a:prstGeom prst="roundRect">
            <a:avLst/>
          </a:pr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2" name="TextBox 11">
            <a:extLst>
              <a:ext uri="{FF2B5EF4-FFF2-40B4-BE49-F238E27FC236}">
                <a16:creationId xmlns:a16="http://schemas.microsoft.com/office/drawing/2014/main" id="{86029257-B334-A2DA-F61E-BD0D7FF2663B}"/>
              </a:ext>
            </a:extLst>
          </p:cNvPr>
          <p:cNvSpPr txBox="1"/>
          <p:nvPr/>
        </p:nvSpPr>
        <p:spPr>
          <a:xfrm>
            <a:off x="5604668" y="1134337"/>
            <a:ext cx="6506051" cy="2585323"/>
          </a:xfrm>
          <a:prstGeom prst="rect">
            <a:avLst/>
          </a:prstGeom>
          <a:noFill/>
        </p:spPr>
        <p:txBody>
          <a:bodyPr wrap="square" rtlCol="0">
            <a:spAutoFit/>
          </a:bodyPr>
          <a:lstStyle/>
          <a:p>
            <a:pPr marL="342900" indent="-342900">
              <a:buAutoNum type="arabicPeriod"/>
            </a:pPr>
            <a:r>
              <a:rPr lang="en-ZA" dirty="0"/>
              <a:t>Under the new Menu Item – WIP, add the following Sub menu Items:</a:t>
            </a:r>
          </a:p>
          <a:p>
            <a:pPr marL="800100" lvl="1" indent="-342900">
              <a:buFont typeface="Arial" panose="020B0604020202020204" pitchFamily="34" charset="0"/>
              <a:buChar char="•"/>
            </a:pPr>
            <a:r>
              <a:rPr lang="en-ZA" dirty="0"/>
              <a:t>Create/Add to WIP Register</a:t>
            </a:r>
          </a:p>
          <a:p>
            <a:pPr marL="800100" lvl="1" indent="-342900">
              <a:buFont typeface="Arial" panose="020B0604020202020204" pitchFamily="34" charset="0"/>
              <a:buChar char="•"/>
            </a:pPr>
            <a:r>
              <a:rPr lang="en-ZA" dirty="0"/>
              <a:t>Manage WIP Register</a:t>
            </a:r>
          </a:p>
          <a:p>
            <a:pPr marL="800100" lvl="1" indent="-342900">
              <a:buFont typeface="Arial" panose="020B0604020202020204" pitchFamily="34" charset="0"/>
              <a:buChar char="•"/>
            </a:pPr>
            <a:r>
              <a:rPr lang="en-ZA" dirty="0"/>
              <a:t>WIP Performance</a:t>
            </a:r>
          </a:p>
          <a:p>
            <a:pPr marL="800100" lvl="1" indent="-342900">
              <a:buFont typeface="Arial" panose="020B0604020202020204" pitchFamily="34" charset="0"/>
              <a:buChar char="•"/>
            </a:pPr>
            <a:r>
              <a:rPr lang="en-ZA" dirty="0"/>
              <a:t>WIP Spatial View</a:t>
            </a:r>
          </a:p>
          <a:p>
            <a:pPr marL="800100" lvl="1" indent="-342900">
              <a:buFont typeface="Arial" panose="020B0604020202020204" pitchFamily="34" charset="0"/>
              <a:buChar char="•"/>
            </a:pPr>
            <a:r>
              <a:rPr lang="en-ZA" dirty="0"/>
              <a:t>Asset Unbundling</a:t>
            </a:r>
          </a:p>
          <a:p>
            <a:pPr marL="800100" lvl="1" indent="-342900">
              <a:buFont typeface="Arial" panose="020B0604020202020204" pitchFamily="34" charset="0"/>
              <a:buChar char="•"/>
            </a:pPr>
            <a:r>
              <a:rPr lang="en-ZA" dirty="0"/>
              <a:t>Transfer WIP</a:t>
            </a:r>
          </a:p>
          <a:p>
            <a:pPr marL="342900" indent="-342900">
              <a:buAutoNum type="arabicPeriod"/>
            </a:pPr>
            <a:endParaRPr lang="en-ZA" dirty="0"/>
          </a:p>
        </p:txBody>
      </p:sp>
      <p:pic>
        <p:nvPicPr>
          <p:cNvPr id="14" name="Picture 13">
            <a:extLst>
              <a:ext uri="{FF2B5EF4-FFF2-40B4-BE49-F238E27FC236}">
                <a16:creationId xmlns:a16="http://schemas.microsoft.com/office/drawing/2014/main" id="{CA2F62D7-71A4-1210-77A2-CA9EB2B8781B}"/>
              </a:ext>
            </a:extLst>
          </p:cNvPr>
          <p:cNvPicPr>
            <a:picLocks noChangeAspect="1"/>
          </p:cNvPicPr>
          <p:nvPr/>
        </p:nvPicPr>
        <p:blipFill>
          <a:blip r:embed="rId2"/>
          <a:srcRect r="1708" b="12807"/>
          <a:stretch>
            <a:fillRect/>
          </a:stretch>
        </p:blipFill>
        <p:spPr>
          <a:xfrm>
            <a:off x="490537" y="1134336"/>
            <a:ext cx="4752023" cy="4240303"/>
          </a:xfrm>
          <a:prstGeom prst="rect">
            <a:avLst/>
          </a:prstGeom>
        </p:spPr>
      </p:pic>
      <p:pic>
        <p:nvPicPr>
          <p:cNvPr id="3" name="Picture 2">
            <a:extLst>
              <a:ext uri="{FF2B5EF4-FFF2-40B4-BE49-F238E27FC236}">
                <a16:creationId xmlns:a16="http://schemas.microsoft.com/office/drawing/2014/main" id="{276ED62E-37E0-EF49-1DA4-22DBCCBC9F7D}"/>
              </a:ext>
            </a:extLst>
          </p:cNvPr>
          <p:cNvPicPr>
            <a:picLocks noChangeAspect="1"/>
          </p:cNvPicPr>
          <p:nvPr/>
        </p:nvPicPr>
        <p:blipFill>
          <a:blip r:embed="rId3"/>
          <a:stretch>
            <a:fillRect/>
          </a:stretch>
        </p:blipFill>
        <p:spPr>
          <a:xfrm>
            <a:off x="3560405" y="1181076"/>
            <a:ext cx="1676179" cy="519132"/>
          </a:xfrm>
          <a:prstGeom prst="rect">
            <a:avLst/>
          </a:prstGeom>
        </p:spPr>
      </p:pic>
      <p:pic>
        <p:nvPicPr>
          <p:cNvPr id="8" name="Picture 7">
            <a:extLst>
              <a:ext uri="{FF2B5EF4-FFF2-40B4-BE49-F238E27FC236}">
                <a16:creationId xmlns:a16="http://schemas.microsoft.com/office/drawing/2014/main" id="{438FCC21-C844-2742-CF73-906E5AE227E7}"/>
              </a:ext>
            </a:extLst>
          </p:cNvPr>
          <p:cNvPicPr>
            <a:picLocks noChangeAspect="1"/>
          </p:cNvPicPr>
          <p:nvPr/>
        </p:nvPicPr>
        <p:blipFill>
          <a:blip r:embed="rId4"/>
          <a:stretch>
            <a:fillRect/>
          </a:stretch>
        </p:blipFill>
        <p:spPr>
          <a:xfrm>
            <a:off x="648702" y="1196205"/>
            <a:ext cx="2842108" cy="457264"/>
          </a:xfrm>
          <a:prstGeom prst="rect">
            <a:avLst/>
          </a:prstGeom>
        </p:spPr>
      </p:pic>
      <p:sp>
        <p:nvSpPr>
          <p:cNvPr id="13" name="TextBox 12">
            <a:extLst>
              <a:ext uri="{FF2B5EF4-FFF2-40B4-BE49-F238E27FC236}">
                <a16:creationId xmlns:a16="http://schemas.microsoft.com/office/drawing/2014/main" id="{040D7F44-920B-874C-9D2E-009D1D4C3AD0}"/>
              </a:ext>
            </a:extLst>
          </p:cNvPr>
          <p:cNvSpPr txBox="1"/>
          <p:nvPr/>
        </p:nvSpPr>
        <p:spPr>
          <a:xfrm>
            <a:off x="667676" y="1272842"/>
            <a:ext cx="934720" cy="369332"/>
          </a:xfrm>
          <a:prstGeom prst="rect">
            <a:avLst/>
          </a:prstGeom>
          <a:noFill/>
        </p:spPr>
        <p:txBody>
          <a:bodyPr wrap="square" rtlCol="0">
            <a:spAutoFit/>
          </a:bodyPr>
          <a:lstStyle/>
          <a:p>
            <a:r>
              <a:rPr lang="en-ZA" dirty="0">
                <a:solidFill>
                  <a:schemeClr val="bg1"/>
                </a:solidFill>
              </a:rPr>
              <a:t>WIP</a:t>
            </a:r>
          </a:p>
        </p:txBody>
      </p:sp>
      <p:pic>
        <p:nvPicPr>
          <p:cNvPr id="16" name="Picture 15">
            <a:extLst>
              <a:ext uri="{FF2B5EF4-FFF2-40B4-BE49-F238E27FC236}">
                <a16:creationId xmlns:a16="http://schemas.microsoft.com/office/drawing/2014/main" id="{F8090A1F-1C5E-2882-6F12-CC7574F79B36}"/>
              </a:ext>
            </a:extLst>
          </p:cNvPr>
          <p:cNvPicPr>
            <a:picLocks noChangeAspect="1"/>
          </p:cNvPicPr>
          <p:nvPr/>
        </p:nvPicPr>
        <p:blipFill>
          <a:blip r:embed="rId5"/>
          <a:stretch>
            <a:fillRect/>
          </a:stretch>
        </p:blipFill>
        <p:spPr>
          <a:xfrm>
            <a:off x="667676" y="1746947"/>
            <a:ext cx="2981298" cy="419158"/>
          </a:xfrm>
          <a:prstGeom prst="rect">
            <a:avLst/>
          </a:prstGeom>
        </p:spPr>
      </p:pic>
      <p:pic>
        <p:nvPicPr>
          <p:cNvPr id="17" name="Picture 16">
            <a:extLst>
              <a:ext uri="{FF2B5EF4-FFF2-40B4-BE49-F238E27FC236}">
                <a16:creationId xmlns:a16="http://schemas.microsoft.com/office/drawing/2014/main" id="{C2AAD859-D416-3926-B0BA-FB8C0C588D0E}"/>
              </a:ext>
            </a:extLst>
          </p:cNvPr>
          <p:cNvPicPr>
            <a:picLocks noChangeAspect="1"/>
          </p:cNvPicPr>
          <p:nvPr/>
        </p:nvPicPr>
        <p:blipFill>
          <a:blip r:embed="rId5"/>
          <a:stretch>
            <a:fillRect/>
          </a:stretch>
        </p:blipFill>
        <p:spPr>
          <a:xfrm>
            <a:off x="648702" y="2374505"/>
            <a:ext cx="2981298" cy="419158"/>
          </a:xfrm>
          <a:prstGeom prst="rect">
            <a:avLst/>
          </a:prstGeom>
        </p:spPr>
      </p:pic>
      <p:pic>
        <p:nvPicPr>
          <p:cNvPr id="18" name="Picture 17">
            <a:extLst>
              <a:ext uri="{FF2B5EF4-FFF2-40B4-BE49-F238E27FC236}">
                <a16:creationId xmlns:a16="http://schemas.microsoft.com/office/drawing/2014/main" id="{ED03543C-A51C-BFC8-3EE4-65C24DA368C1}"/>
              </a:ext>
            </a:extLst>
          </p:cNvPr>
          <p:cNvPicPr>
            <a:picLocks noChangeAspect="1"/>
          </p:cNvPicPr>
          <p:nvPr/>
        </p:nvPicPr>
        <p:blipFill>
          <a:blip r:embed="rId5"/>
          <a:stretch>
            <a:fillRect/>
          </a:stretch>
        </p:blipFill>
        <p:spPr>
          <a:xfrm>
            <a:off x="579107" y="2985168"/>
            <a:ext cx="2981298" cy="419158"/>
          </a:xfrm>
          <a:prstGeom prst="rect">
            <a:avLst/>
          </a:prstGeom>
        </p:spPr>
      </p:pic>
      <p:pic>
        <p:nvPicPr>
          <p:cNvPr id="19" name="Picture 18">
            <a:extLst>
              <a:ext uri="{FF2B5EF4-FFF2-40B4-BE49-F238E27FC236}">
                <a16:creationId xmlns:a16="http://schemas.microsoft.com/office/drawing/2014/main" id="{C2B08FF9-1B8D-9824-67F1-01589BD7D80B}"/>
              </a:ext>
            </a:extLst>
          </p:cNvPr>
          <p:cNvPicPr>
            <a:picLocks noChangeAspect="1"/>
          </p:cNvPicPr>
          <p:nvPr/>
        </p:nvPicPr>
        <p:blipFill>
          <a:blip r:embed="rId5"/>
          <a:stretch>
            <a:fillRect/>
          </a:stretch>
        </p:blipFill>
        <p:spPr>
          <a:xfrm>
            <a:off x="490537" y="3573104"/>
            <a:ext cx="2981298" cy="419158"/>
          </a:xfrm>
          <a:prstGeom prst="rect">
            <a:avLst/>
          </a:prstGeom>
        </p:spPr>
      </p:pic>
      <p:pic>
        <p:nvPicPr>
          <p:cNvPr id="20" name="Picture 19">
            <a:extLst>
              <a:ext uri="{FF2B5EF4-FFF2-40B4-BE49-F238E27FC236}">
                <a16:creationId xmlns:a16="http://schemas.microsoft.com/office/drawing/2014/main" id="{6F0DD1A1-4CAE-3486-818C-C6453FA886D8}"/>
              </a:ext>
            </a:extLst>
          </p:cNvPr>
          <p:cNvPicPr>
            <a:picLocks noChangeAspect="1"/>
          </p:cNvPicPr>
          <p:nvPr/>
        </p:nvPicPr>
        <p:blipFill>
          <a:blip r:embed="rId5"/>
          <a:stretch>
            <a:fillRect/>
          </a:stretch>
        </p:blipFill>
        <p:spPr>
          <a:xfrm>
            <a:off x="579107" y="4281701"/>
            <a:ext cx="2981298" cy="419158"/>
          </a:xfrm>
          <a:prstGeom prst="rect">
            <a:avLst/>
          </a:prstGeom>
        </p:spPr>
      </p:pic>
      <p:sp>
        <p:nvSpPr>
          <p:cNvPr id="22" name="TextBox 21">
            <a:extLst>
              <a:ext uri="{FF2B5EF4-FFF2-40B4-BE49-F238E27FC236}">
                <a16:creationId xmlns:a16="http://schemas.microsoft.com/office/drawing/2014/main" id="{1884B021-63FB-6307-DFE4-8761E3D41695}"/>
              </a:ext>
            </a:extLst>
          </p:cNvPr>
          <p:cNvSpPr txBox="1"/>
          <p:nvPr/>
        </p:nvSpPr>
        <p:spPr>
          <a:xfrm>
            <a:off x="667676" y="1784086"/>
            <a:ext cx="3548724" cy="369332"/>
          </a:xfrm>
          <a:prstGeom prst="rect">
            <a:avLst/>
          </a:prstGeom>
          <a:noFill/>
        </p:spPr>
        <p:txBody>
          <a:bodyPr wrap="square" rtlCol="0">
            <a:spAutoFit/>
          </a:bodyPr>
          <a:lstStyle/>
          <a:p>
            <a:r>
              <a:rPr lang="en-ZA" dirty="0">
                <a:solidFill>
                  <a:schemeClr val="bg1"/>
                </a:solidFill>
              </a:rPr>
              <a:t>Create/Add to WIP Register</a:t>
            </a:r>
          </a:p>
        </p:txBody>
      </p:sp>
      <p:sp>
        <p:nvSpPr>
          <p:cNvPr id="23" name="TextBox 22">
            <a:extLst>
              <a:ext uri="{FF2B5EF4-FFF2-40B4-BE49-F238E27FC236}">
                <a16:creationId xmlns:a16="http://schemas.microsoft.com/office/drawing/2014/main" id="{E2284F59-923E-D2F5-FC7C-9BD24894A63A}"/>
              </a:ext>
            </a:extLst>
          </p:cNvPr>
          <p:cNvSpPr txBox="1"/>
          <p:nvPr/>
        </p:nvSpPr>
        <p:spPr>
          <a:xfrm>
            <a:off x="648702" y="2355553"/>
            <a:ext cx="2458720" cy="369332"/>
          </a:xfrm>
          <a:prstGeom prst="rect">
            <a:avLst/>
          </a:prstGeom>
          <a:noFill/>
        </p:spPr>
        <p:txBody>
          <a:bodyPr wrap="square" rtlCol="0">
            <a:spAutoFit/>
          </a:bodyPr>
          <a:lstStyle/>
          <a:p>
            <a:r>
              <a:rPr lang="en-ZA" dirty="0">
                <a:solidFill>
                  <a:schemeClr val="bg1"/>
                </a:solidFill>
              </a:rPr>
              <a:t>Manage WIP Register</a:t>
            </a:r>
          </a:p>
        </p:txBody>
      </p:sp>
      <p:sp>
        <p:nvSpPr>
          <p:cNvPr id="25" name="TextBox 24">
            <a:extLst>
              <a:ext uri="{FF2B5EF4-FFF2-40B4-BE49-F238E27FC236}">
                <a16:creationId xmlns:a16="http://schemas.microsoft.com/office/drawing/2014/main" id="{298090A1-1B76-788A-65C5-D2ABCEF0BBAA}"/>
              </a:ext>
            </a:extLst>
          </p:cNvPr>
          <p:cNvSpPr txBox="1"/>
          <p:nvPr/>
        </p:nvSpPr>
        <p:spPr>
          <a:xfrm>
            <a:off x="667676" y="3611797"/>
            <a:ext cx="2458720" cy="369332"/>
          </a:xfrm>
          <a:prstGeom prst="rect">
            <a:avLst/>
          </a:prstGeom>
          <a:noFill/>
        </p:spPr>
        <p:txBody>
          <a:bodyPr wrap="square" rtlCol="0">
            <a:spAutoFit/>
          </a:bodyPr>
          <a:lstStyle/>
          <a:p>
            <a:r>
              <a:rPr lang="en-ZA" dirty="0">
                <a:solidFill>
                  <a:schemeClr val="bg1"/>
                </a:solidFill>
              </a:rPr>
              <a:t>WIP Spatial View</a:t>
            </a:r>
          </a:p>
        </p:txBody>
      </p:sp>
      <p:sp>
        <p:nvSpPr>
          <p:cNvPr id="26" name="TextBox 25">
            <a:extLst>
              <a:ext uri="{FF2B5EF4-FFF2-40B4-BE49-F238E27FC236}">
                <a16:creationId xmlns:a16="http://schemas.microsoft.com/office/drawing/2014/main" id="{DB184234-7F57-B963-3BED-3059BBE8FBE6}"/>
              </a:ext>
            </a:extLst>
          </p:cNvPr>
          <p:cNvSpPr txBox="1"/>
          <p:nvPr/>
        </p:nvSpPr>
        <p:spPr>
          <a:xfrm>
            <a:off x="648702" y="2973873"/>
            <a:ext cx="2458720" cy="369332"/>
          </a:xfrm>
          <a:prstGeom prst="rect">
            <a:avLst/>
          </a:prstGeom>
          <a:noFill/>
        </p:spPr>
        <p:txBody>
          <a:bodyPr wrap="square" rtlCol="0">
            <a:spAutoFit/>
          </a:bodyPr>
          <a:lstStyle/>
          <a:p>
            <a:r>
              <a:rPr lang="en-ZA" dirty="0">
                <a:solidFill>
                  <a:schemeClr val="bg1"/>
                </a:solidFill>
              </a:rPr>
              <a:t>WIP Performance</a:t>
            </a:r>
          </a:p>
        </p:txBody>
      </p:sp>
      <p:pic>
        <p:nvPicPr>
          <p:cNvPr id="27" name="Picture 26">
            <a:extLst>
              <a:ext uri="{FF2B5EF4-FFF2-40B4-BE49-F238E27FC236}">
                <a16:creationId xmlns:a16="http://schemas.microsoft.com/office/drawing/2014/main" id="{DADB5DA2-8586-6FBB-A9C0-25B0F3A8BA90}"/>
              </a:ext>
            </a:extLst>
          </p:cNvPr>
          <p:cNvPicPr>
            <a:picLocks noChangeAspect="1"/>
          </p:cNvPicPr>
          <p:nvPr/>
        </p:nvPicPr>
        <p:blipFill>
          <a:blip r:embed="rId5"/>
          <a:stretch>
            <a:fillRect/>
          </a:stretch>
        </p:blipFill>
        <p:spPr>
          <a:xfrm>
            <a:off x="667676" y="4870564"/>
            <a:ext cx="2981298" cy="419158"/>
          </a:xfrm>
          <a:prstGeom prst="rect">
            <a:avLst/>
          </a:prstGeom>
        </p:spPr>
      </p:pic>
      <p:sp>
        <p:nvSpPr>
          <p:cNvPr id="24" name="TextBox 23">
            <a:extLst>
              <a:ext uri="{FF2B5EF4-FFF2-40B4-BE49-F238E27FC236}">
                <a16:creationId xmlns:a16="http://schemas.microsoft.com/office/drawing/2014/main" id="{4A98BD71-10BC-8D5F-5ADE-89B14906D532}"/>
              </a:ext>
            </a:extLst>
          </p:cNvPr>
          <p:cNvSpPr txBox="1"/>
          <p:nvPr/>
        </p:nvSpPr>
        <p:spPr>
          <a:xfrm>
            <a:off x="757687" y="4894298"/>
            <a:ext cx="2458720" cy="369332"/>
          </a:xfrm>
          <a:prstGeom prst="rect">
            <a:avLst/>
          </a:prstGeom>
          <a:noFill/>
        </p:spPr>
        <p:txBody>
          <a:bodyPr wrap="square" rtlCol="0">
            <a:spAutoFit/>
          </a:bodyPr>
          <a:lstStyle/>
          <a:p>
            <a:r>
              <a:rPr lang="en-ZA" dirty="0">
                <a:solidFill>
                  <a:schemeClr val="bg1"/>
                </a:solidFill>
              </a:rPr>
              <a:t>Transfer WIP</a:t>
            </a:r>
          </a:p>
        </p:txBody>
      </p:sp>
      <p:sp>
        <p:nvSpPr>
          <p:cNvPr id="28" name="TextBox 27">
            <a:extLst>
              <a:ext uri="{FF2B5EF4-FFF2-40B4-BE49-F238E27FC236}">
                <a16:creationId xmlns:a16="http://schemas.microsoft.com/office/drawing/2014/main" id="{D618A313-CDB5-1D16-BC84-D730080B29EB}"/>
              </a:ext>
            </a:extLst>
          </p:cNvPr>
          <p:cNvSpPr txBox="1"/>
          <p:nvPr/>
        </p:nvSpPr>
        <p:spPr>
          <a:xfrm>
            <a:off x="713403" y="4255609"/>
            <a:ext cx="2458720" cy="369332"/>
          </a:xfrm>
          <a:prstGeom prst="rect">
            <a:avLst/>
          </a:prstGeom>
          <a:noFill/>
        </p:spPr>
        <p:txBody>
          <a:bodyPr wrap="square" rtlCol="0">
            <a:spAutoFit/>
          </a:bodyPr>
          <a:lstStyle/>
          <a:p>
            <a:r>
              <a:rPr lang="en-ZA" dirty="0">
                <a:solidFill>
                  <a:schemeClr val="bg1"/>
                </a:solidFill>
              </a:rPr>
              <a:t>Asset Unbundling</a:t>
            </a:r>
          </a:p>
        </p:txBody>
      </p:sp>
    </p:spTree>
    <p:extLst>
      <p:ext uri="{BB962C8B-B14F-4D97-AF65-F5344CB8AC3E}">
        <p14:creationId xmlns:p14="http://schemas.microsoft.com/office/powerpoint/2010/main" val="583729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BEC6CB2-29D6-4948-0FFB-271C37F5FE03}"/>
              </a:ext>
            </a:extLst>
          </p:cNvPr>
          <p:cNvPicPr>
            <a:picLocks noChangeAspect="1"/>
          </p:cNvPicPr>
          <p:nvPr/>
        </p:nvPicPr>
        <p:blipFill>
          <a:blip r:embed="rId2"/>
          <a:stretch>
            <a:fillRect/>
          </a:stretch>
        </p:blipFill>
        <p:spPr>
          <a:xfrm>
            <a:off x="161058" y="3186720"/>
            <a:ext cx="3943583" cy="3506324"/>
          </a:xfrm>
          <a:prstGeom prst="rect">
            <a:avLst/>
          </a:prstGeom>
        </p:spPr>
      </p:pic>
      <p:pic>
        <p:nvPicPr>
          <p:cNvPr id="7" name="Picture 6">
            <a:extLst>
              <a:ext uri="{FF2B5EF4-FFF2-40B4-BE49-F238E27FC236}">
                <a16:creationId xmlns:a16="http://schemas.microsoft.com/office/drawing/2014/main" id="{6894AEE4-8B73-CBE7-DE10-FA73A916B049}"/>
              </a:ext>
            </a:extLst>
          </p:cNvPr>
          <p:cNvPicPr>
            <a:picLocks noChangeAspect="1"/>
          </p:cNvPicPr>
          <p:nvPr/>
        </p:nvPicPr>
        <p:blipFill>
          <a:blip r:embed="rId3"/>
          <a:stretch>
            <a:fillRect/>
          </a:stretch>
        </p:blipFill>
        <p:spPr>
          <a:xfrm>
            <a:off x="161058" y="164956"/>
            <a:ext cx="4207742" cy="2611701"/>
          </a:xfrm>
          <a:prstGeom prst="rect">
            <a:avLst/>
          </a:prstGeom>
        </p:spPr>
      </p:pic>
      <p:sp>
        <p:nvSpPr>
          <p:cNvPr id="8" name="Rectangle: Rounded Corners 7">
            <a:extLst>
              <a:ext uri="{FF2B5EF4-FFF2-40B4-BE49-F238E27FC236}">
                <a16:creationId xmlns:a16="http://schemas.microsoft.com/office/drawing/2014/main" id="{479DC81C-CC00-D6A1-2AB9-C91042788804}"/>
              </a:ext>
            </a:extLst>
          </p:cNvPr>
          <p:cNvSpPr/>
          <p:nvPr/>
        </p:nvSpPr>
        <p:spPr>
          <a:xfrm>
            <a:off x="249995" y="5689684"/>
            <a:ext cx="3712406" cy="409336"/>
          </a:xfrm>
          <a:prstGeom prst="roundRect">
            <a:avLst/>
          </a:pr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Rectangle: Rounded Corners 8">
            <a:extLst>
              <a:ext uri="{FF2B5EF4-FFF2-40B4-BE49-F238E27FC236}">
                <a16:creationId xmlns:a16="http://schemas.microsoft.com/office/drawing/2014/main" id="{30A6CD3A-4544-699C-3E7E-A333EFC7D525}"/>
              </a:ext>
            </a:extLst>
          </p:cNvPr>
          <p:cNvSpPr/>
          <p:nvPr/>
        </p:nvSpPr>
        <p:spPr>
          <a:xfrm>
            <a:off x="314960" y="1266138"/>
            <a:ext cx="3366611" cy="409336"/>
          </a:xfrm>
          <a:prstGeom prst="roundRect">
            <a:avLst/>
          </a:pr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TextBox 9">
            <a:extLst>
              <a:ext uri="{FF2B5EF4-FFF2-40B4-BE49-F238E27FC236}">
                <a16:creationId xmlns:a16="http://schemas.microsoft.com/office/drawing/2014/main" id="{6FF7B891-1048-2756-D370-D38C488A14F9}"/>
              </a:ext>
            </a:extLst>
          </p:cNvPr>
          <p:cNvSpPr txBox="1"/>
          <p:nvPr/>
        </p:nvSpPr>
        <p:spPr>
          <a:xfrm>
            <a:off x="5604668" y="1134337"/>
            <a:ext cx="6506051" cy="1200329"/>
          </a:xfrm>
          <a:prstGeom prst="rect">
            <a:avLst/>
          </a:prstGeom>
          <a:noFill/>
        </p:spPr>
        <p:txBody>
          <a:bodyPr wrap="square" rtlCol="0">
            <a:spAutoFit/>
          </a:bodyPr>
          <a:lstStyle/>
          <a:p>
            <a:r>
              <a:rPr lang="en-ZA" dirty="0"/>
              <a:t>Move the Sub Menu Item - Asset Unbundling under the Acquisition Tab, to the New WIP Menu Item</a:t>
            </a:r>
          </a:p>
          <a:p>
            <a:endParaRPr lang="en-ZA" dirty="0"/>
          </a:p>
          <a:p>
            <a:endParaRPr lang="en-ZA" dirty="0"/>
          </a:p>
        </p:txBody>
      </p:sp>
    </p:spTree>
    <p:extLst>
      <p:ext uri="{BB962C8B-B14F-4D97-AF65-F5344CB8AC3E}">
        <p14:creationId xmlns:p14="http://schemas.microsoft.com/office/powerpoint/2010/main" val="880925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22BF2-195D-7408-8180-63D862FE725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EBE7C25-837C-D5A5-5D25-DF7A832CA2BA}"/>
              </a:ext>
            </a:extLst>
          </p:cNvPr>
          <p:cNvSpPr>
            <a:spLocks noGrp="1"/>
          </p:cNvSpPr>
          <p:nvPr>
            <p:ph type="title"/>
          </p:nvPr>
        </p:nvSpPr>
        <p:spPr>
          <a:xfrm>
            <a:off x="490537" y="86444"/>
            <a:ext cx="11210925" cy="409336"/>
          </a:xfrm>
          <a:solidFill>
            <a:schemeClr val="bg1"/>
          </a:solidFill>
        </p:spPr>
        <p:txBody>
          <a:bodyPr vert="horz" lIns="91440" tIns="45720" rIns="91440" bIns="45720" rtlCol="0" anchor="ctr">
            <a:normAutofit fontScale="90000"/>
          </a:bodyPr>
          <a:lstStyle/>
          <a:p>
            <a:pPr algn="ctr"/>
            <a:r>
              <a:rPr lang="en-US" sz="3600" dirty="0">
                <a:solidFill>
                  <a:schemeClr val="tx1">
                    <a:lumMod val="85000"/>
                    <a:lumOff val="15000"/>
                  </a:schemeClr>
                </a:solidFill>
              </a:rPr>
              <a:t>WIP – Create WIP Register</a:t>
            </a:r>
          </a:p>
        </p:txBody>
      </p:sp>
      <p:sp>
        <p:nvSpPr>
          <p:cNvPr id="11" name="Rectangle: Rounded Corners 10">
            <a:extLst>
              <a:ext uri="{FF2B5EF4-FFF2-40B4-BE49-F238E27FC236}">
                <a16:creationId xmlns:a16="http://schemas.microsoft.com/office/drawing/2014/main" id="{10449BEF-4020-64A9-E401-DEAC2D1D0FB1}"/>
              </a:ext>
            </a:extLst>
          </p:cNvPr>
          <p:cNvSpPr/>
          <p:nvPr/>
        </p:nvSpPr>
        <p:spPr>
          <a:xfrm>
            <a:off x="11159331" y="340444"/>
            <a:ext cx="629920" cy="409336"/>
          </a:xfrm>
          <a:prstGeom prst="roundRect">
            <a:avLst/>
          </a:pr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2" name="TextBox 11">
            <a:extLst>
              <a:ext uri="{FF2B5EF4-FFF2-40B4-BE49-F238E27FC236}">
                <a16:creationId xmlns:a16="http://schemas.microsoft.com/office/drawing/2014/main" id="{69169FA6-39BB-CFB9-0080-7BDE82778A4B}"/>
              </a:ext>
            </a:extLst>
          </p:cNvPr>
          <p:cNvSpPr txBox="1"/>
          <p:nvPr/>
        </p:nvSpPr>
        <p:spPr>
          <a:xfrm>
            <a:off x="89616" y="2393377"/>
            <a:ext cx="11699635" cy="1754326"/>
          </a:xfrm>
          <a:prstGeom prst="rect">
            <a:avLst/>
          </a:prstGeom>
          <a:noFill/>
        </p:spPr>
        <p:txBody>
          <a:bodyPr wrap="square" rtlCol="0">
            <a:spAutoFit/>
          </a:bodyPr>
          <a:lstStyle/>
          <a:p>
            <a:pPr marL="342900" indent="-342900">
              <a:buAutoNum type="arabicPeriod"/>
            </a:pPr>
            <a:r>
              <a:rPr lang="en-ZA" dirty="0"/>
              <a:t>When the User select the Sub Menu Item – Create/Add to WIP Register, the following Screen must display.</a:t>
            </a:r>
          </a:p>
          <a:p>
            <a:pPr marL="342900" indent="-342900">
              <a:buAutoNum type="arabicPeriod"/>
            </a:pPr>
            <a:r>
              <a:rPr lang="en-ZA" dirty="0"/>
              <a:t>Refer to the Asset Unbundling Screen that integrates to the Supply Chain Contract Management.</a:t>
            </a:r>
          </a:p>
          <a:p>
            <a:pPr marL="342900" indent="-342900">
              <a:buAutoNum type="arabicPeriod"/>
            </a:pPr>
            <a:endParaRPr lang="en-ZA" dirty="0"/>
          </a:p>
          <a:p>
            <a:pPr marL="342900" indent="-342900">
              <a:buAutoNum type="arabicPeriod"/>
            </a:pPr>
            <a:endParaRPr lang="en-ZA" dirty="0"/>
          </a:p>
          <a:p>
            <a:pPr marL="342900" indent="-342900">
              <a:buAutoNum type="arabicPeriod"/>
            </a:pPr>
            <a:endParaRPr lang="en-ZA" dirty="0"/>
          </a:p>
          <a:p>
            <a:pPr marL="342900" indent="-342900">
              <a:buAutoNum type="arabicPeriod"/>
            </a:pPr>
            <a:endParaRPr lang="en-ZA" dirty="0"/>
          </a:p>
        </p:txBody>
      </p:sp>
      <p:sp>
        <p:nvSpPr>
          <p:cNvPr id="13" name="TextBox 12">
            <a:extLst>
              <a:ext uri="{FF2B5EF4-FFF2-40B4-BE49-F238E27FC236}">
                <a16:creationId xmlns:a16="http://schemas.microsoft.com/office/drawing/2014/main" id="{6EC30268-2950-B2C3-4A64-680FB1944816}"/>
              </a:ext>
            </a:extLst>
          </p:cNvPr>
          <p:cNvSpPr txBox="1"/>
          <p:nvPr/>
        </p:nvSpPr>
        <p:spPr>
          <a:xfrm>
            <a:off x="667676" y="1272842"/>
            <a:ext cx="934720" cy="369332"/>
          </a:xfrm>
          <a:prstGeom prst="rect">
            <a:avLst/>
          </a:prstGeom>
          <a:noFill/>
        </p:spPr>
        <p:txBody>
          <a:bodyPr wrap="square" rtlCol="0">
            <a:spAutoFit/>
          </a:bodyPr>
          <a:lstStyle/>
          <a:p>
            <a:r>
              <a:rPr lang="en-ZA" dirty="0">
                <a:solidFill>
                  <a:schemeClr val="bg1"/>
                </a:solidFill>
              </a:rPr>
              <a:t>WIP</a:t>
            </a:r>
          </a:p>
        </p:txBody>
      </p:sp>
      <p:pic>
        <p:nvPicPr>
          <p:cNvPr id="4" name="Picture 3">
            <a:extLst>
              <a:ext uri="{FF2B5EF4-FFF2-40B4-BE49-F238E27FC236}">
                <a16:creationId xmlns:a16="http://schemas.microsoft.com/office/drawing/2014/main" id="{24D81E98-EB64-8C61-A1D4-71C284B5B717}"/>
              </a:ext>
            </a:extLst>
          </p:cNvPr>
          <p:cNvPicPr>
            <a:picLocks noChangeAspect="1"/>
          </p:cNvPicPr>
          <p:nvPr/>
        </p:nvPicPr>
        <p:blipFill>
          <a:blip r:embed="rId2"/>
          <a:stretch>
            <a:fillRect/>
          </a:stretch>
        </p:blipFill>
        <p:spPr>
          <a:xfrm>
            <a:off x="272581" y="936594"/>
            <a:ext cx="3960491" cy="933365"/>
          </a:xfrm>
          <a:prstGeom prst="rect">
            <a:avLst/>
          </a:prstGeom>
        </p:spPr>
      </p:pic>
    </p:spTree>
    <p:extLst>
      <p:ext uri="{BB962C8B-B14F-4D97-AF65-F5344CB8AC3E}">
        <p14:creationId xmlns:p14="http://schemas.microsoft.com/office/powerpoint/2010/main" val="3550348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03B631-0B99-90B3-A07A-E1FB666278CB}"/>
              </a:ext>
            </a:extLst>
          </p:cNvPr>
          <p:cNvPicPr>
            <a:picLocks noChangeAspect="1"/>
          </p:cNvPicPr>
          <p:nvPr/>
        </p:nvPicPr>
        <p:blipFill>
          <a:blip r:embed="rId2"/>
          <a:srcRect b="73290"/>
          <a:stretch>
            <a:fillRect/>
          </a:stretch>
        </p:blipFill>
        <p:spPr>
          <a:xfrm>
            <a:off x="803761" y="289349"/>
            <a:ext cx="10637520" cy="1723303"/>
          </a:xfrm>
          <a:prstGeom prst="rect">
            <a:avLst/>
          </a:prstGeom>
        </p:spPr>
      </p:pic>
      <p:pic>
        <p:nvPicPr>
          <p:cNvPr id="6" name="Picture 5">
            <a:extLst>
              <a:ext uri="{FF2B5EF4-FFF2-40B4-BE49-F238E27FC236}">
                <a16:creationId xmlns:a16="http://schemas.microsoft.com/office/drawing/2014/main" id="{23F3C573-22E5-83D5-09B2-5821B372739E}"/>
              </a:ext>
            </a:extLst>
          </p:cNvPr>
          <p:cNvPicPr>
            <a:picLocks noChangeAspect="1"/>
          </p:cNvPicPr>
          <p:nvPr/>
        </p:nvPicPr>
        <p:blipFill>
          <a:blip r:embed="rId3"/>
          <a:stretch>
            <a:fillRect/>
          </a:stretch>
        </p:blipFill>
        <p:spPr>
          <a:xfrm>
            <a:off x="857399" y="1736388"/>
            <a:ext cx="2410161" cy="276264"/>
          </a:xfrm>
          <a:prstGeom prst="rect">
            <a:avLst/>
          </a:prstGeom>
        </p:spPr>
      </p:pic>
      <p:pic>
        <p:nvPicPr>
          <p:cNvPr id="8" name="Picture 7">
            <a:extLst>
              <a:ext uri="{FF2B5EF4-FFF2-40B4-BE49-F238E27FC236}">
                <a16:creationId xmlns:a16="http://schemas.microsoft.com/office/drawing/2014/main" id="{52DCD5A8-BC19-ADDF-0818-5A08DEB5432F}"/>
              </a:ext>
            </a:extLst>
          </p:cNvPr>
          <p:cNvPicPr>
            <a:picLocks noChangeAspect="1"/>
          </p:cNvPicPr>
          <p:nvPr/>
        </p:nvPicPr>
        <p:blipFill>
          <a:blip r:embed="rId3"/>
          <a:stretch>
            <a:fillRect/>
          </a:stretch>
        </p:blipFill>
        <p:spPr>
          <a:xfrm>
            <a:off x="857399" y="639108"/>
            <a:ext cx="2410161" cy="276264"/>
          </a:xfrm>
          <a:prstGeom prst="rect">
            <a:avLst/>
          </a:prstGeom>
        </p:spPr>
      </p:pic>
      <p:sp>
        <p:nvSpPr>
          <p:cNvPr id="9" name="TextBox 8">
            <a:extLst>
              <a:ext uri="{FF2B5EF4-FFF2-40B4-BE49-F238E27FC236}">
                <a16:creationId xmlns:a16="http://schemas.microsoft.com/office/drawing/2014/main" id="{0DE3BF56-5EDD-CB33-3296-C27ADCAF8EB2}"/>
              </a:ext>
            </a:extLst>
          </p:cNvPr>
          <p:cNvSpPr txBox="1"/>
          <p:nvPr/>
        </p:nvSpPr>
        <p:spPr>
          <a:xfrm>
            <a:off x="937558" y="638373"/>
            <a:ext cx="2410161" cy="307777"/>
          </a:xfrm>
          <a:prstGeom prst="rect">
            <a:avLst/>
          </a:prstGeom>
          <a:noFill/>
        </p:spPr>
        <p:txBody>
          <a:bodyPr wrap="square" rtlCol="0">
            <a:spAutoFit/>
          </a:bodyPr>
          <a:lstStyle/>
          <a:p>
            <a:r>
              <a:rPr lang="en-ZA" sz="1400" dirty="0"/>
              <a:t>Create/Add to WIP Register</a:t>
            </a:r>
          </a:p>
        </p:txBody>
      </p:sp>
      <p:pic>
        <p:nvPicPr>
          <p:cNvPr id="12" name="Picture 11">
            <a:extLst>
              <a:ext uri="{FF2B5EF4-FFF2-40B4-BE49-F238E27FC236}">
                <a16:creationId xmlns:a16="http://schemas.microsoft.com/office/drawing/2014/main" id="{BC471338-F83F-E1C1-64AA-6D90FA9D13D0}"/>
              </a:ext>
            </a:extLst>
          </p:cNvPr>
          <p:cNvPicPr>
            <a:picLocks noChangeAspect="1"/>
          </p:cNvPicPr>
          <p:nvPr/>
        </p:nvPicPr>
        <p:blipFill>
          <a:blip r:embed="rId4"/>
          <a:stretch>
            <a:fillRect/>
          </a:stretch>
        </p:blipFill>
        <p:spPr>
          <a:xfrm>
            <a:off x="937558" y="1144952"/>
            <a:ext cx="10477202" cy="390580"/>
          </a:xfrm>
          <a:prstGeom prst="rect">
            <a:avLst/>
          </a:prstGeom>
        </p:spPr>
      </p:pic>
      <p:pic>
        <p:nvPicPr>
          <p:cNvPr id="16" name="Picture 15">
            <a:extLst>
              <a:ext uri="{FF2B5EF4-FFF2-40B4-BE49-F238E27FC236}">
                <a16:creationId xmlns:a16="http://schemas.microsoft.com/office/drawing/2014/main" id="{A500164D-D1A7-EADC-9EAA-498A4BDA2FDD}"/>
              </a:ext>
            </a:extLst>
          </p:cNvPr>
          <p:cNvPicPr>
            <a:picLocks noChangeAspect="1"/>
          </p:cNvPicPr>
          <p:nvPr/>
        </p:nvPicPr>
        <p:blipFill>
          <a:blip r:embed="rId5"/>
          <a:stretch>
            <a:fillRect/>
          </a:stretch>
        </p:blipFill>
        <p:spPr>
          <a:xfrm>
            <a:off x="603256" y="1183126"/>
            <a:ext cx="11145805" cy="552527"/>
          </a:xfrm>
          <a:prstGeom prst="rect">
            <a:avLst/>
          </a:prstGeom>
        </p:spPr>
      </p:pic>
      <p:pic>
        <p:nvPicPr>
          <p:cNvPr id="18" name="Picture 17">
            <a:extLst>
              <a:ext uri="{FF2B5EF4-FFF2-40B4-BE49-F238E27FC236}">
                <a16:creationId xmlns:a16="http://schemas.microsoft.com/office/drawing/2014/main" id="{075D64A8-C636-4616-E16D-1DC9F2F89AA2}"/>
              </a:ext>
            </a:extLst>
          </p:cNvPr>
          <p:cNvPicPr>
            <a:picLocks noChangeAspect="1"/>
          </p:cNvPicPr>
          <p:nvPr/>
        </p:nvPicPr>
        <p:blipFill>
          <a:blip r:embed="rId6"/>
          <a:stretch>
            <a:fillRect/>
          </a:stretch>
        </p:blipFill>
        <p:spPr>
          <a:xfrm>
            <a:off x="6482346" y="1297441"/>
            <a:ext cx="3505689" cy="323895"/>
          </a:xfrm>
          <a:prstGeom prst="rect">
            <a:avLst/>
          </a:prstGeom>
        </p:spPr>
      </p:pic>
      <p:pic>
        <p:nvPicPr>
          <p:cNvPr id="20" name="Picture 19">
            <a:extLst>
              <a:ext uri="{FF2B5EF4-FFF2-40B4-BE49-F238E27FC236}">
                <a16:creationId xmlns:a16="http://schemas.microsoft.com/office/drawing/2014/main" id="{4596AD66-4F45-C559-C699-363187DEEA96}"/>
              </a:ext>
            </a:extLst>
          </p:cNvPr>
          <p:cNvPicPr>
            <a:picLocks noChangeAspect="1"/>
          </p:cNvPicPr>
          <p:nvPr/>
        </p:nvPicPr>
        <p:blipFill>
          <a:blip r:embed="rId6"/>
          <a:stretch>
            <a:fillRect/>
          </a:stretch>
        </p:blipFill>
        <p:spPr>
          <a:xfrm>
            <a:off x="911037" y="1276079"/>
            <a:ext cx="3505689" cy="323895"/>
          </a:xfrm>
          <a:prstGeom prst="rect">
            <a:avLst/>
          </a:prstGeom>
        </p:spPr>
      </p:pic>
      <p:sp>
        <p:nvSpPr>
          <p:cNvPr id="10" name="TextBox 9">
            <a:extLst>
              <a:ext uri="{FF2B5EF4-FFF2-40B4-BE49-F238E27FC236}">
                <a16:creationId xmlns:a16="http://schemas.microsoft.com/office/drawing/2014/main" id="{69BFEA89-3B16-7994-21B3-4114E48FDA87}"/>
              </a:ext>
            </a:extLst>
          </p:cNvPr>
          <p:cNvSpPr txBox="1"/>
          <p:nvPr/>
        </p:nvSpPr>
        <p:spPr>
          <a:xfrm>
            <a:off x="937558" y="1320888"/>
            <a:ext cx="3169920" cy="307777"/>
          </a:xfrm>
          <a:prstGeom prst="rect">
            <a:avLst/>
          </a:prstGeom>
          <a:noFill/>
        </p:spPr>
        <p:txBody>
          <a:bodyPr wrap="square" rtlCol="0">
            <a:spAutoFit/>
          </a:bodyPr>
          <a:lstStyle/>
          <a:p>
            <a:r>
              <a:rPr lang="en-ZA" sz="1400" dirty="0">
                <a:solidFill>
                  <a:schemeClr val="bg1"/>
                </a:solidFill>
              </a:rPr>
              <a:t>Link Capital Contracts</a:t>
            </a:r>
          </a:p>
        </p:txBody>
      </p:sp>
      <p:sp>
        <p:nvSpPr>
          <p:cNvPr id="21" name="TextBox 20">
            <a:extLst>
              <a:ext uri="{FF2B5EF4-FFF2-40B4-BE49-F238E27FC236}">
                <a16:creationId xmlns:a16="http://schemas.microsoft.com/office/drawing/2014/main" id="{38575160-40EE-BBBF-B7EC-7BF0777A92BB}"/>
              </a:ext>
            </a:extLst>
          </p:cNvPr>
          <p:cNvSpPr txBox="1"/>
          <p:nvPr/>
        </p:nvSpPr>
        <p:spPr>
          <a:xfrm>
            <a:off x="6498667" y="1288701"/>
            <a:ext cx="3169920" cy="307777"/>
          </a:xfrm>
          <a:prstGeom prst="rect">
            <a:avLst/>
          </a:prstGeom>
          <a:noFill/>
        </p:spPr>
        <p:txBody>
          <a:bodyPr wrap="square" rtlCol="0">
            <a:spAutoFit/>
          </a:bodyPr>
          <a:lstStyle/>
          <a:p>
            <a:r>
              <a:rPr lang="en-ZA" sz="1400" dirty="0">
                <a:solidFill>
                  <a:schemeClr val="bg1"/>
                </a:solidFill>
              </a:rPr>
              <a:t>Add new WIP Project</a:t>
            </a:r>
          </a:p>
        </p:txBody>
      </p:sp>
      <p:pic>
        <p:nvPicPr>
          <p:cNvPr id="23" name="Picture 22">
            <a:extLst>
              <a:ext uri="{FF2B5EF4-FFF2-40B4-BE49-F238E27FC236}">
                <a16:creationId xmlns:a16="http://schemas.microsoft.com/office/drawing/2014/main" id="{929B5BD2-76F9-D398-690D-BA69CB5CBD47}"/>
              </a:ext>
            </a:extLst>
          </p:cNvPr>
          <p:cNvPicPr>
            <a:picLocks noChangeAspect="1"/>
          </p:cNvPicPr>
          <p:nvPr/>
        </p:nvPicPr>
        <p:blipFill>
          <a:blip r:embed="rId7"/>
          <a:stretch>
            <a:fillRect/>
          </a:stretch>
        </p:blipFill>
        <p:spPr>
          <a:xfrm>
            <a:off x="803761" y="1944711"/>
            <a:ext cx="7665148" cy="1570650"/>
          </a:xfrm>
          <a:prstGeom prst="rect">
            <a:avLst/>
          </a:prstGeom>
        </p:spPr>
      </p:pic>
      <p:sp>
        <p:nvSpPr>
          <p:cNvPr id="24" name="TextBox 23">
            <a:extLst>
              <a:ext uri="{FF2B5EF4-FFF2-40B4-BE49-F238E27FC236}">
                <a16:creationId xmlns:a16="http://schemas.microsoft.com/office/drawing/2014/main" id="{7E6B28F1-0C4E-96C2-B324-F48691B40B1F}"/>
              </a:ext>
            </a:extLst>
          </p:cNvPr>
          <p:cNvSpPr txBox="1"/>
          <p:nvPr/>
        </p:nvSpPr>
        <p:spPr>
          <a:xfrm>
            <a:off x="803761" y="2003407"/>
            <a:ext cx="3846109" cy="276999"/>
          </a:xfrm>
          <a:prstGeom prst="rect">
            <a:avLst/>
          </a:prstGeom>
          <a:solidFill>
            <a:schemeClr val="bg1"/>
          </a:solidFill>
        </p:spPr>
        <p:txBody>
          <a:bodyPr wrap="square" rtlCol="0">
            <a:spAutoFit/>
          </a:bodyPr>
          <a:lstStyle/>
          <a:p>
            <a:r>
              <a:rPr lang="en-ZA" sz="1200" dirty="0"/>
              <a:t>Capital Contract Description</a:t>
            </a:r>
          </a:p>
        </p:txBody>
      </p:sp>
    </p:spTree>
    <p:extLst>
      <p:ext uri="{BB962C8B-B14F-4D97-AF65-F5344CB8AC3E}">
        <p14:creationId xmlns:p14="http://schemas.microsoft.com/office/powerpoint/2010/main" val="626424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AD13BF-3483-02B3-8720-2898D3128AE2}"/>
              </a:ext>
            </a:extLst>
          </p:cNvPr>
          <p:cNvPicPr>
            <a:picLocks noChangeAspect="1"/>
          </p:cNvPicPr>
          <p:nvPr/>
        </p:nvPicPr>
        <p:blipFill>
          <a:blip r:embed="rId2"/>
          <a:stretch>
            <a:fillRect/>
          </a:stretch>
        </p:blipFill>
        <p:spPr>
          <a:xfrm>
            <a:off x="221563" y="0"/>
            <a:ext cx="5287113" cy="2981741"/>
          </a:xfrm>
          <a:prstGeom prst="rect">
            <a:avLst/>
          </a:prstGeom>
        </p:spPr>
      </p:pic>
      <p:sp>
        <p:nvSpPr>
          <p:cNvPr id="5" name="TextBox 4">
            <a:extLst>
              <a:ext uri="{FF2B5EF4-FFF2-40B4-BE49-F238E27FC236}">
                <a16:creationId xmlns:a16="http://schemas.microsoft.com/office/drawing/2014/main" id="{BC8253AB-8FB1-5E8B-3764-A67994D0502B}"/>
              </a:ext>
            </a:extLst>
          </p:cNvPr>
          <p:cNvSpPr txBox="1"/>
          <p:nvPr/>
        </p:nvSpPr>
        <p:spPr>
          <a:xfrm>
            <a:off x="5685949" y="154076"/>
            <a:ext cx="6506051" cy="2308324"/>
          </a:xfrm>
          <a:prstGeom prst="rect">
            <a:avLst/>
          </a:prstGeom>
          <a:noFill/>
        </p:spPr>
        <p:txBody>
          <a:bodyPr wrap="square" rtlCol="0">
            <a:spAutoFit/>
          </a:bodyPr>
          <a:lstStyle/>
          <a:p>
            <a:r>
              <a:rPr lang="en-ZA" dirty="0"/>
              <a:t>When the user add search criteria, bring back the applicable search result on the following Grid</a:t>
            </a:r>
          </a:p>
          <a:p>
            <a:endParaRPr lang="en-ZA" dirty="0"/>
          </a:p>
          <a:p>
            <a:r>
              <a:rPr lang="en-ZA" dirty="0"/>
              <a:t>When the user only selects the search button, return all Capital contracts in the grid</a:t>
            </a:r>
          </a:p>
          <a:p>
            <a:endParaRPr lang="en-ZA" dirty="0"/>
          </a:p>
          <a:p>
            <a:r>
              <a:rPr lang="en-ZA" dirty="0"/>
              <a:t>Allow the user to export the Grid to Excel and PDF</a:t>
            </a:r>
          </a:p>
          <a:p>
            <a:endParaRPr lang="en-ZA" dirty="0"/>
          </a:p>
        </p:txBody>
      </p:sp>
      <p:pic>
        <p:nvPicPr>
          <p:cNvPr id="6" name="Picture 5">
            <a:extLst>
              <a:ext uri="{FF2B5EF4-FFF2-40B4-BE49-F238E27FC236}">
                <a16:creationId xmlns:a16="http://schemas.microsoft.com/office/drawing/2014/main" id="{83FCCD90-CA6A-27B6-34FB-7EAAFE10F541}"/>
              </a:ext>
            </a:extLst>
          </p:cNvPr>
          <p:cNvPicPr>
            <a:picLocks noChangeAspect="1"/>
          </p:cNvPicPr>
          <p:nvPr/>
        </p:nvPicPr>
        <p:blipFill>
          <a:blip r:embed="rId3"/>
          <a:stretch>
            <a:fillRect/>
          </a:stretch>
        </p:blipFill>
        <p:spPr>
          <a:xfrm>
            <a:off x="556820" y="2847230"/>
            <a:ext cx="10664041" cy="3453310"/>
          </a:xfrm>
          <a:prstGeom prst="rect">
            <a:avLst/>
          </a:prstGeom>
        </p:spPr>
      </p:pic>
      <p:pic>
        <p:nvPicPr>
          <p:cNvPr id="8" name="Picture 7">
            <a:extLst>
              <a:ext uri="{FF2B5EF4-FFF2-40B4-BE49-F238E27FC236}">
                <a16:creationId xmlns:a16="http://schemas.microsoft.com/office/drawing/2014/main" id="{5E3C89FC-FC34-5106-CC06-4575FA39EDF1}"/>
              </a:ext>
            </a:extLst>
          </p:cNvPr>
          <p:cNvPicPr>
            <a:picLocks noChangeAspect="1"/>
          </p:cNvPicPr>
          <p:nvPr/>
        </p:nvPicPr>
        <p:blipFill>
          <a:blip r:embed="rId4"/>
          <a:srcRect t="13321"/>
          <a:stretch>
            <a:fillRect/>
          </a:stretch>
        </p:blipFill>
        <p:spPr>
          <a:xfrm>
            <a:off x="556820" y="6394425"/>
            <a:ext cx="10664041" cy="450366"/>
          </a:xfrm>
          <a:prstGeom prst="rect">
            <a:avLst/>
          </a:prstGeom>
        </p:spPr>
      </p:pic>
      <p:pic>
        <p:nvPicPr>
          <p:cNvPr id="10" name="Picture 9">
            <a:extLst>
              <a:ext uri="{FF2B5EF4-FFF2-40B4-BE49-F238E27FC236}">
                <a16:creationId xmlns:a16="http://schemas.microsoft.com/office/drawing/2014/main" id="{5597E581-C8FC-6173-CEF7-072496CD9441}"/>
              </a:ext>
            </a:extLst>
          </p:cNvPr>
          <p:cNvPicPr>
            <a:picLocks noChangeAspect="1"/>
          </p:cNvPicPr>
          <p:nvPr/>
        </p:nvPicPr>
        <p:blipFill>
          <a:blip r:embed="rId5"/>
          <a:stretch>
            <a:fillRect/>
          </a:stretch>
        </p:blipFill>
        <p:spPr>
          <a:xfrm>
            <a:off x="10525439" y="2390656"/>
            <a:ext cx="695422" cy="409632"/>
          </a:xfrm>
          <a:prstGeom prst="rect">
            <a:avLst/>
          </a:prstGeom>
        </p:spPr>
      </p:pic>
    </p:spTree>
    <p:extLst>
      <p:ext uri="{BB962C8B-B14F-4D97-AF65-F5344CB8AC3E}">
        <p14:creationId xmlns:p14="http://schemas.microsoft.com/office/powerpoint/2010/main" val="4147043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7926D09-92D2-E785-78A6-B3B333165653}"/>
              </a:ext>
            </a:extLst>
          </p:cNvPr>
          <p:cNvSpPr txBox="1"/>
          <p:nvPr/>
        </p:nvSpPr>
        <p:spPr>
          <a:xfrm>
            <a:off x="223520" y="128955"/>
            <a:ext cx="11734800" cy="369332"/>
          </a:xfrm>
          <a:prstGeom prst="rect">
            <a:avLst/>
          </a:prstGeom>
          <a:noFill/>
        </p:spPr>
        <p:txBody>
          <a:bodyPr wrap="square">
            <a:spAutoFit/>
          </a:bodyPr>
          <a:lstStyle/>
          <a:p>
            <a:r>
              <a:rPr lang="en-ZA" dirty="0"/>
              <a:t>Create a new Table for WIP in the database catering for the following  columns:</a:t>
            </a:r>
          </a:p>
        </p:txBody>
      </p:sp>
      <p:graphicFrame>
        <p:nvGraphicFramePr>
          <p:cNvPr id="6" name="Table 5">
            <a:extLst>
              <a:ext uri="{FF2B5EF4-FFF2-40B4-BE49-F238E27FC236}">
                <a16:creationId xmlns:a16="http://schemas.microsoft.com/office/drawing/2014/main" id="{C495A6B9-FC82-B965-34F8-931C802C691A}"/>
              </a:ext>
            </a:extLst>
          </p:cNvPr>
          <p:cNvGraphicFramePr>
            <a:graphicFrameLocks noGrp="1"/>
          </p:cNvGraphicFramePr>
          <p:nvPr>
            <p:extLst>
              <p:ext uri="{D42A27DB-BD31-4B8C-83A1-F6EECF244321}">
                <p14:modId xmlns:p14="http://schemas.microsoft.com/office/powerpoint/2010/main" val="1237812181"/>
              </p:ext>
            </p:extLst>
          </p:nvPr>
        </p:nvGraphicFramePr>
        <p:xfrm>
          <a:off x="259080" y="498287"/>
          <a:ext cx="11663680" cy="5608320"/>
        </p:xfrm>
        <a:graphic>
          <a:graphicData uri="http://schemas.openxmlformats.org/drawingml/2006/table">
            <a:tbl>
              <a:tblPr firstRow="1" bandRow="1">
                <a:tableStyleId>{5C22544A-7EE6-4342-B048-85BDC9FD1C3A}</a:tableStyleId>
              </a:tblPr>
              <a:tblGrid>
                <a:gridCol w="2585720">
                  <a:extLst>
                    <a:ext uri="{9D8B030D-6E8A-4147-A177-3AD203B41FA5}">
                      <a16:colId xmlns:a16="http://schemas.microsoft.com/office/drawing/2014/main" val="3667603114"/>
                    </a:ext>
                  </a:extLst>
                </a:gridCol>
                <a:gridCol w="9077960">
                  <a:extLst>
                    <a:ext uri="{9D8B030D-6E8A-4147-A177-3AD203B41FA5}">
                      <a16:colId xmlns:a16="http://schemas.microsoft.com/office/drawing/2014/main" val="1887186038"/>
                    </a:ext>
                  </a:extLst>
                </a:gridCol>
              </a:tblGrid>
              <a:tr h="370840">
                <a:tc>
                  <a:txBody>
                    <a:bodyPr/>
                    <a:lstStyle/>
                    <a:p>
                      <a:r>
                        <a:rPr lang="en-ZA" dirty="0"/>
                        <a:t>Column Name</a:t>
                      </a:r>
                    </a:p>
                  </a:txBody>
                  <a:tcPr/>
                </a:tc>
                <a:tc>
                  <a:txBody>
                    <a:bodyPr/>
                    <a:lstStyle/>
                    <a:p>
                      <a:r>
                        <a:rPr lang="en-ZA" dirty="0"/>
                        <a:t>Details</a:t>
                      </a:r>
                    </a:p>
                  </a:txBody>
                  <a:tcPr/>
                </a:tc>
                <a:extLst>
                  <a:ext uri="{0D108BD9-81ED-4DB2-BD59-A6C34878D82A}">
                    <a16:rowId xmlns:a16="http://schemas.microsoft.com/office/drawing/2014/main" val="2127561284"/>
                  </a:ext>
                </a:extLst>
              </a:tr>
              <a:tr h="370840">
                <a:tc>
                  <a:txBody>
                    <a:bodyPr/>
                    <a:lstStyle/>
                    <a:p>
                      <a:r>
                        <a:rPr lang="en-ZA" sz="1600" dirty="0"/>
                        <a:t>WIP ID</a:t>
                      </a:r>
                    </a:p>
                  </a:txBody>
                  <a:tcPr/>
                </a:tc>
                <a:tc>
                  <a:txBody>
                    <a:bodyPr/>
                    <a:lstStyle/>
                    <a:p>
                      <a:r>
                        <a:rPr lang="en-ZA" sz="1600" dirty="0"/>
                        <a:t>Unique ID the system must Generate with each contract that is added or a new </a:t>
                      </a:r>
                      <a:r>
                        <a:rPr lang="en-ZA" sz="1600" dirty="0" err="1"/>
                        <a:t>Wip</a:t>
                      </a:r>
                      <a:r>
                        <a:rPr lang="en-ZA" sz="1600" dirty="0"/>
                        <a:t> Project Created</a:t>
                      </a:r>
                    </a:p>
                  </a:txBody>
                  <a:tcPr/>
                </a:tc>
                <a:extLst>
                  <a:ext uri="{0D108BD9-81ED-4DB2-BD59-A6C34878D82A}">
                    <a16:rowId xmlns:a16="http://schemas.microsoft.com/office/drawing/2014/main" val="1067180257"/>
                  </a:ext>
                </a:extLst>
              </a:tr>
              <a:tr h="370840">
                <a:tc>
                  <a:txBody>
                    <a:bodyPr/>
                    <a:lstStyle/>
                    <a:p>
                      <a:r>
                        <a:rPr lang="en-ZA" sz="1600" dirty="0"/>
                        <a:t>Project No</a:t>
                      </a:r>
                    </a:p>
                  </a:txBody>
                  <a:tcPr/>
                </a:tc>
                <a:tc>
                  <a:txBody>
                    <a:bodyPr/>
                    <a:lstStyle/>
                    <a:p>
                      <a:r>
                        <a:rPr lang="en-ZA" sz="1600" dirty="0"/>
                        <a:t>This is an open field the user must be able to manage</a:t>
                      </a:r>
                    </a:p>
                  </a:txBody>
                  <a:tcPr/>
                </a:tc>
                <a:extLst>
                  <a:ext uri="{0D108BD9-81ED-4DB2-BD59-A6C34878D82A}">
                    <a16:rowId xmlns:a16="http://schemas.microsoft.com/office/drawing/2014/main" val="1020431410"/>
                  </a:ext>
                </a:extLst>
              </a:tr>
              <a:tr h="370840">
                <a:tc>
                  <a:txBody>
                    <a:bodyPr/>
                    <a:lstStyle/>
                    <a:p>
                      <a:r>
                        <a:rPr lang="en-ZA" sz="1600" dirty="0"/>
                        <a:t>Asser Register ID</a:t>
                      </a:r>
                    </a:p>
                  </a:txBody>
                  <a:tcPr/>
                </a:tc>
                <a:tc>
                  <a:txBody>
                    <a:bodyPr/>
                    <a:lstStyle/>
                    <a:p>
                      <a:r>
                        <a:rPr lang="en-ZA" sz="1600" dirty="0"/>
                        <a:t>This filed must be linked to the asset register.  When a project is managed the user will be able to add the AR ID.</a:t>
                      </a:r>
                    </a:p>
                  </a:txBody>
                  <a:tcPr/>
                </a:tc>
                <a:extLst>
                  <a:ext uri="{0D108BD9-81ED-4DB2-BD59-A6C34878D82A}">
                    <a16:rowId xmlns:a16="http://schemas.microsoft.com/office/drawing/2014/main" val="3930351334"/>
                  </a:ext>
                </a:extLst>
              </a:tr>
              <a:tr h="370840">
                <a:tc>
                  <a:txBody>
                    <a:bodyPr/>
                    <a:lstStyle/>
                    <a:p>
                      <a:r>
                        <a:rPr lang="en-ZA" sz="1600" dirty="0"/>
                        <a:t>Project Status</a:t>
                      </a:r>
                    </a:p>
                  </a:txBody>
                  <a:tcPr/>
                </a:tc>
                <a:tc>
                  <a:txBody>
                    <a:bodyPr/>
                    <a:lstStyle/>
                    <a:p>
                      <a:r>
                        <a:rPr lang="en-ZA" sz="1600" dirty="0"/>
                        <a:t>This field must be populated by the user when the project is managed – </a:t>
                      </a:r>
                      <a:r>
                        <a:rPr lang="en-ZA" sz="1600" b="1" dirty="0"/>
                        <a:t>new Asset Setting</a:t>
                      </a:r>
                    </a:p>
                  </a:txBody>
                  <a:tcPr/>
                </a:tc>
                <a:extLst>
                  <a:ext uri="{0D108BD9-81ED-4DB2-BD59-A6C34878D82A}">
                    <a16:rowId xmlns:a16="http://schemas.microsoft.com/office/drawing/2014/main" val="3852832030"/>
                  </a:ext>
                </a:extLst>
              </a:tr>
              <a:tr h="370840">
                <a:tc>
                  <a:txBody>
                    <a:bodyPr/>
                    <a:lstStyle/>
                    <a:p>
                      <a:r>
                        <a:rPr lang="en-ZA" sz="1600" dirty="0"/>
                        <a:t>Contract Start Date</a:t>
                      </a:r>
                    </a:p>
                  </a:txBody>
                  <a:tcPr/>
                </a:tc>
                <a:tc>
                  <a:txBody>
                    <a:bodyPr/>
                    <a:lstStyle/>
                    <a:p>
                      <a:r>
                        <a:rPr lang="en-ZA" sz="1600" dirty="0"/>
                        <a:t>Must be populated from Contract Management Tables and the user must be able to manage the field</a:t>
                      </a:r>
                    </a:p>
                  </a:txBody>
                  <a:tcPr/>
                </a:tc>
                <a:extLst>
                  <a:ext uri="{0D108BD9-81ED-4DB2-BD59-A6C34878D82A}">
                    <a16:rowId xmlns:a16="http://schemas.microsoft.com/office/drawing/2014/main" val="1391516994"/>
                  </a:ext>
                </a:extLst>
              </a:tr>
              <a:tr h="370840">
                <a:tc>
                  <a:txBody>
                    <a:bodyPr/>
                    <a:lstStyle/>
                    <a:p>
                      <a:r>
                        <a:rPr lang="en-ZA" sz="1600" dirty="0"/>
                        <a:t>Contract  End Date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dirty="0"/>
                        <a:t>Must be populated from Contract Management Tables and the user must be able to manage the field</a:t>
                      </a:r>
                    </a:p>
                  </a:txBody>
                  <a:tcPr/>
                </a:tc>
                <a:extLst>
                  <a:ext uri="{0D108BD9-81ED-4DB2-BD59-A6C34878D82A}">
                    <a16:rowId xmlns:a16="http://schemas.microsoft.com/office/drawing/2014/main" val="399158684"/>
                  </a:ext>
                </a:extLst>
              </a:tr>
              <a:tr h="370840">
                <a:tc>
                  <a:txBody>
                    <a:bodyPr/>
                    <a:lstStyle/>
                    <a:p>
                      <a:r>
                        <a:rPr lang="en-ZA" sz="1600" dirty="0"/>
                        <a:t>Project Name/Description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dirty="0"/>
                        <a:t>Must be populated from Contract Management Tables and the user must be able to manage the field</a:t>
                      </a:r>
                    </a:p>
                  </a:txBody>
                  <a:tcPr/>
                </a:tc>
                <a:extLst>
                  <a:ext uri="{0D108BD9-81ED-4DB2-BD59-A6C34878D82A}">
                    <a16:rowId xmlns:a16="http://schemas.microsoft.com/office/drawing/2014/main" val="1828347320"/>
                  </a:ext>
                </a:extLst>
              </a:tr>
              <a:tr h="370840">
                <a:tc>
                  <a:txBody>
                    <a:bodyPr/>
                    <a:lstStyle/>
                    <a:p>
                      <a:r>
                        <a:rPr lang="en-ZA" sz="1600" dirty="0"/>
                        <a:t>SCM Contract Number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dirty="0"/>
                        <a:t>Must be populated from Contract Management Tables and the user must NOT be able to manage the field</a:t>
                      </a:r>
                    </a:p>
                  </a:txBody>
                  <a:tcPr/>
                </a:tc>
                <a:extLst>
                  <a:ext uri="{0D108BD9-81ED-4DB2-BD59-A6C34878D82A}">
                    <a16:rowId xmlns:a16="http://schemas.microsoft.com/office/drawing/2014/main" val="204862532"/>
                  </a:ext>
                </a:extLst>
              </a:tr>
              <a:tr h="370840">
                <a:tc>
                  <a:txBody>
                    <a:bodyPr/>
                    <a:lstStyle/>
                    <a:p>
                      <a:r>
                        <a:rPr lang="en-ZA" sz="1600" dirty="0"/>
                        <a:t>Funding Source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dirty="0"/>
                        <a:t>This field must be populated by the user when the project is managed – </a:t>
                      </a:r>
                      <a:r>
                        <a:rPr lang="en-ZA" sz="1600" b="1" dirty="0"/>
                        <a:t>new Asset Setting</a:t>
                      </a:r>
                    </a:p>
                  </a:txBody>
                  <a:tcPr/>
                </a:tc>
                <a:extLst>
                  <a:ext uri="{0D108BD9-81ED-4DB2-BD59-A6C34878D82A}">
                    <a16:rowId xmlns:a16="http://schemas.microsoft.com/office/drawing/2014/main" val="1346895278"/>
                  </a:ext>
                </a:extLst>
              </a:tr>
              <a:tr h="370840">
                <a:tc>
                  <a:txBody>
                    <a:bodyPr/>
                    <a:lstStyle/>
                    <a:p>
                      <a:r>
                        <a:rPr lang="en-ZA" sz="1600" dirty="0"/>
                        <a:t>Funding Type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dirty="0"/>
                        <a:t>This field must be populated by the user when the project is managed – </a:t>
                      </a:r>
                      <a:r>
                        <a:rPr lang="en-ZA" sz="1600" b="1" dirty="0"/>
                        <a:t>new Asset Setting</a:t>
                      </a:r>
                    </a:p>
                  </a:txBody>
                  <a:tcPr/>
                </a:tc>
                <a:extLst>
                  <a:ext uri="{0D108BD9-81ED-4DB2-BD59-A6C34878D82A}">
                    <a16:rowId xmlns:a16="http://schemas.microsoft.com/office/drawing/2014/main" val="1878801459"/>
                  </a:ext>
                </a:extLst>
              </a:tr>
              <a:tr h="370840">
                <a:tc>
                  <a:txBody>
                    <a:bodyPr/>
                    <a:lstStyle/>
                    <a:p>
                      <a:r>
                        <a:rPr lang="en-ZA" sz="1600" dirty="0"/>
                        <a:t>Department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b="0" dirty="0"/>
                        <a:t>Integrates to General Settings on Department and division</a:t>
                      </a:r>
                    </a:p>
                  </a:txBody>
                  <a:tcPr/>
                </a:tc>
                <a:extLst>
                  <a:ext uri="{0D108BD9-81ED-4DB2-BD59-A6C34878D82A}">
                    <a16:rowId xmlns:a16="http://schemas.microsoft.com/office/drawing/2014/main" val="1571404849"/>
                  </a:ext>
                </a:extLst>
              </a:tr>
              <a:tr h="370840">
                <a:tc>
                  <a:txBody>
                    <a:bodyPr/>
                    <a:lstStyle/>
                    <a:p>
                      <a:r>
                        <a:rPr lang="en-ZA" sz="1600" dirty="0"/>
                        <a:t>Division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b="0" dirty="0"/>
                        <a:t>Integrates to General Settings on Department and division</a:t>
                      </a:r>
                    </a:p>
                  </a:txBody>
                  <a:tcPr/>
                </a:tc>
                <a:extLst>
                  <a:ext uri="{0D108BD9-81ED-4DB2-BD59-A6C34878D82A}">
                    <a16:rowId xmlns:a16="http://schemas.microsoft.com/office/drawing/2014/main" val="2659769634"/>
                  </a:ext>
                </a:extLst>
              </a:tr>
              <a:tr h="370840">
                <a:tc>
                  <a:txBody>
                    <a:bodyPr/>
                    <a:lstStyle/>
                    <a:p>
                      <a:r>
                        <a:rPr lang="en-ZA" sz="1600" dirty="0"/>
                        <a:t>Custodian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b="0" dirty="0"/>
                        <a:t>Integrates to HR and Payroll</a:t>
                      </a:r>
                    </a:p>
                  </a:txBody>
                  <a:tcPr/>
                </a:tc>
                <a:extLst>
                  <a:ext uri="{0D108BD9-81ED-4DB2-BD59-A6C34878D82A}">
                    <a16:rowId xmlns:a16="http://schemas.microsoft.com/office/drawing/2014/main" val="2988438692"/>
                  </a:ext>
                </a:extLst>
              </a:tr>
            </a:tbl>
          </a:graphicData>
        </a:graphic>
      </p:graphicFrame>
    </p:spTree>
    <p:extLst>
      <p:ext uri="{BB962C8B-B14F-4D97-AF65-F5344CB8AC3E}">
        <p14:creationId xmlns:p14="http://schemas.microsoft.com/office/powerpoint/2010/main" val="633537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0771E-4E67-5A26-1799-8391349F6D3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1BD2E32-E7AF-8598-5012-B97B29C2ADE4}"/>
              </a:ext>
            </a:extLst>
          </p:cNvPr>
          <p:cNvSpPr txBox="1"/>
          <p:nvPr/>
        </p:nvSpPr>
        <p:spPr>
          <a:xfrm>
            <a:off x="223520" y="128955"/>
            <a:ext cx="11734800" cy="369332"/>
          </a:xfrm>
          <a:prstGeom prst="rect">
            <a:avLst/>
          </a:prstGeom>
          <a:noFill/>
        </p:spPr>
        <p:txBody>
          <a:bodyPr wrap="square">
            <a:spAutoFit/>
          </a:bodyPr>
          <a:lstStyle/>
          <a:p>
            <a:r>
              <a:rPr lang="en-ZA" dirty="0"/>
              <a:t>Continue:</a:t>
            </a:r>
          </a:p>
        </p:txBody>
      </p:sp>
      <p:graphicFrame>
        <p:nvGraphicFramePr>
          <p:cNvPr id="6" name="Table 5">
            <a:extLst>
              <a:ext uri="{FF2B5EF4-FFF2-40B4-BE49-F238E27FC236}">
                <a16:creationId xmlns:a16="http://schemas.microsoft.com/office/drawing/2014/main" id="{459EA117-B19A-5196-E8DC-EBD2E340EBF0}"/>
              </a:ext>
            </a:extLst>
          </p:cNvPr>
          <p:cNvGraphicFramePr>
            <a:graphicFrameLocks noGrp="1"/>
          </p:cNvGraphicFramePr>
          <p:nvPr>
            <p:extLst>
              <p:ext uri="{D42A27DB-BD31-4B8C-83A1-F6EECF244321}">
                <p14:modId xmlns:p14="http://schemas.microsoft.com/office/powerpoint/2010/main" val="1732368576"/>
              </p:ext>
            </p:extLst>
          </p:nvPr>
        </p:nvGraphicFramePr>
        <p:xfrm>
          <a:off x="259080" y="498287"/>
          <a:ext cx="11663680" cy="6205220"/>
        </p:xfrm>
        <a:graphic>
          <a:graphicData uri="http://schemas.openxmlformats.org/drawingml/2006/table">
            <a:tbl>
              <a:tblPr firstRow="1" bandRow="1">
                <a:tableStyleId>{5C22544A-7EE6-4342-B048-85BDC9FD1C3A}</a:tableStyleId>
              </a:tblPr>
              <a:tblGrid>
                <a:gridCol w="2169160">
                  <a:extLst>
                    <a:ext uri="{9D8B030D-6E8A-4147-A177-3AD203B41FA5}">
                      <a16:colId xmlns:a16="http://schemas.microsoft.com/office/drawing/2014/main" val="3667603114"/>
                    </a:ext>
                  </a:extLst>
                </a:gridCol>
                <a:gridCol w="9494520">
                  <a:extLst>
                    <a:ext uri="{9D8B030D-6E8A-4147-A177-3AD203B41FA5}">
                      <a16:colId xmlns:a16="http://schemas.microsoft.com/office/drawing/2014/main" val="1887186038"/>
                    </a:ext>
                  </a:extLst>
                </a:gridCol>
              </a:tblGrid>
              <a:tr h="370840">
                <a:tc>
                  <a:txBody>
                    <a:bodyPr/>
                    <a:lstStyle/>
                    <a:p>
                      <a:r>
                        <a:rPr lang="en-ZA" dirty="0"/>
                        <a:t>Column Name</a:t>
                      </a:r>
                    </a:p>
                  </a:txBody>
                  <a:tcPr/>
                </a:tc>
                <a:tc>
                  <a:txBody>
                    <a:bodyPr/>
                    <a:lstStyle/>
                    <a:p>
                      <a:r>
                        <a:rPr lang="en-ZA" dirty="0"/>
                        <a:t>Details</a:t>
                      </a:r>
                    </a:p>
                  </a:txBody>
                  <a:tcPr/>
                </a:tc>
                <a:extLst>
                  <a:ext uri="{0D108BD9-81ED-4DB2-BD59-A6C34878D82A}">
                    <a16:rowId xmlns:a16="http://schemas.microsoft.com/office/drawing/2014/main" val="2127561284"/>
                  </a:ext>
                </a:extLst>
              </a:tr>
              <a:tr h="370840">
                <a:tc>
                  <a:txBody>
                    <a:bodyPr/>
                    <a:lstStyle/>
                    <a:p>
                      <a:r>
                        <a:rPr lang="en-ZA" sz="1600" dirty="0"/>
                        <a:t>Latitude</a:t>
                      </a:r>
                    </a:p>
                  </a:txBody>
                  <a:tcPr/>
                </a:tc>
                <a:tc>
                  <a:txBody>
                    <a:bodyPr/>
                    <a:lstStyle/>
                    <a:p>
                      <a:r>
                        <a:rPr lang="en-ZA" sz="1600" dirty="0"/>
                        <a:t>Open field and the user must be able to manage the field</a:t>
                      </a:r>
                    </a:p>
                  </a:txBody>
                  <a:tcPr/>
                </a:tc>
                <a:extLst>
                  <a:ext uri="{0D108BD9-81ED-4DB2-BD59-A6C34878D82A}">
                    <a16:rowId xmlns:a16="http://schemas.microsoft.com/office/drawing/2014/main" val="1067180257"/>
                  </a:ext>
                </a:extLst>
              </a:tr>
              <a:tr h="370840">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ZA" sz="1400" dirty="0"/>
                        <a:t>  Longitude</a:t>
                      </a:r>
                    </a:p>
                    <a:p>
                      <a:pPr algn="l" rtl="0" fontAlgn="ctr"/>
                      <a:endParaRPr lang="en-ZA" sz="1400" b="1" i="0" u="none" strike="noStrike" dirty="0">
                        <a:solidFill>
                          <a:srgbClr val="000000"/>
                        </a:solidFill>
                        <a:effectLst/>
                        <a:latin typeface="Aptos" panose="020B0004020202020204" pitchFamily="34" charset="0"/>
                      </a:endParaRPr>
                    </a:p>
                  </a:txBody>
                  <a:tcPr marL="7620" marR="7620" marT="762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dirty="0"/>
                        <a:t>Must be populated from Contract Management Tables and the user must NOT be able to manage the field</a:t>
                      </a:r>
                    </a:p>
                  </a:txBody>
                  <a:tcPr/>
                </a:tc>
                <a:extLst>
                  <a:ext uri="{0D108BD9-81ED-4DB2-BD59-A6C34878D82A}">
                    <a16:rowId xmlns:a16="http://schemas.microsoft.com/office/drawing/2014/main" val="1020431410"/>
                  </a:ext>
                </a:extLst>
              </a:tr>
              <a:tr h="370840">
                <a:tc>
                  <a:txBody>
                    <a:bodyPr/>
                    <a:lstStyle/>
                    <a:p>
                      <a:r>
                        <a:rPr lang="en-ZA" sz="1600" dirty="0"/>
                        <a:t>Contract Value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dirty="0"/>
                        <a:t>Must be populated from Contract Management Tables and the user must NOT be able to manage the field</a:t>
                      </a:r>
                    </a:p>
                  </a:txBody>
                  <a:tcPr/>
                </a:tc>
                <a:extLst>
                  <a:ext uri="{0D108BD9-81ED-4DB2-BD59-A6C34878D82A}">
                    <a16:rowId xmlns:a16="http://schemas.microsoft.com/office/drawing/2014/main" val="3930351334"/>
                  </a:ext>
                </a:extLst>
              </a:tr>
              <a:tr h="370840">
                <a:tc>
                  <a:txBody>
                    <a:bodyPr/>
                    <a:lstStyle/>
                    <a:p>
                      <a:r>
                        <a:rPr lang="en-ZA" sz="1600" dirty="0"/>
                        <a:t>WIP Opening balance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dirty="0"/>
                        <a:t>Must be populated from Contract Management Tables and the user must NOT be able to manage the field</a:t>
                      </a:r>
                    </a:p>
                  </a:txBody>
                  <a:tcPr/>
                </a:tc>
                <a:extLst>
                  <a:ext uri="{0D108BD9-81ED-4DB2-BD59-A6C34878D82A}">
                    <a16:rowId xmlns:a16="http://schemas.microsoft.com/office/drawing/2014/main" val="3852832030"/>
                  </a:ext>
                </a:extLst>
              </a:tr>
              <a:tr h="370840">
                <a:tc>
                  <a:txBody>
                    <a:bodyPr/>
                    <a:lstStyle/>
                    <a:p>
                      <a:r>
                        <a:rPr lang="en-ZA" sz="1600" dirty="0"/>
                        <a:t>Restated Opening balance</a:t>
                      </a:r>
                    </a:p>
                  </a:txBody>
                  <a:tcPr/>
                </a:tc>
                <a:tc>
                  <a:txBody>
                    <a:bodyPr/>
                    <a:lstStyle/>
                    <a:p>
                      <a:r>
                        <a:rPr lang="en-ZA" sz="1600" dirty="0"/>
                        <a:t>TBC</a:t>
                      </a:r>
                    </a:p>
                  </a:txBody>
                  <a:tcPr/>
                </a:tc>
                <a:extLst>
                  <a:ext uri="{0D108BD9-81ED-4DB2-BD59-A6C34878D82A}">
                    <a16:rowId xmlns:a16="http://schemas.microsoft.com/office/drawing/2014/main" val="1391516994"/>
                  </a:ext>
                </a:extLst>
              </a:tr>
              <a:tr h="370840">
                <a:tc>
                  <a:txBody>
                    <a:bodyPr/>
                    <a:lstStyle/>
                    <a:p>
                      <a:r>
                        <a:rPr lang="en-ZA" sz="1600" dirty="0"/>
                        <a:t>Additions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dirty="0"/>
                        <a:t>TBC</a:t>
                      </a:r>
                    </a:p>
                  </a:txBody>
                  <a:tcPr/>
                </a:tc>
                <a:extLst>
                  <a:ext uri="{0D108BD9-81ED-4DB2-BD59-A6C34878D82A}">
                    <a16:rowId xmlns:a16="http://schemas.microsoft.com/office/drawing/2014/main" val="399158684"/>
                  </a:ext>
                </a:extLst>
              </a:tr>
              <a:tr h="370840">
                <a:tc>
                  <a:txBody>
                    <a:bodyPr/>
                    <a:lstStyle/>
                    <a:p>
                      <a:r>
                        <a:rPr lang="en-ZA" sz="1600" dirty="0"/>
                        <a:t>Transfer to Assets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dirty="0"/>
                        <a:t>TBC</a:t>
                      </a:r>
                    </a:p>
                  </a:txBody>
                  <a:tcPr/>
                </a:tc>
                <a:extLst>
                  <a:ext uri="{0D108BD9-81ED-4DB2-BD59-A6C34878D82A}">
                    <a16:rowId xmlns:a16="http://schemas.microsoft.com/office/drawing/2014/main" val="1828347320"/>
                  </a:ext>
                </a:extLst>
              </a:tr>
              <a:tr h="370840">
                <a:tc>
                  <a:txBody>
                    <a:bodyPr/>
                    <a:lstStyle/>
                    <a:p>
                      <a:r>
                        <a:rPr lang="en-ZA" sz="1600" dirty="0"/>
                        <a:t>Write Off</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dirty="0"/>
                        <a:t>TBC</a:t>
                      </a:r>
                    </a:p>
                  </a:txBody>
                  <a:tcPr/>
                </a:tc>
                <a:extLst>
                  <a:ext uri="{0D108BD9-81ED-4DB2-BD59-A6C34878D82A}">
                    <a16:rowId xmlns:a16="http://schemas.microsoft.com/office/drawing/2014/main" val="204862532"/>
                  </a:ext>
                </a:extLst>
              </a:tr>
              <a:tr h="370840">
                <a:tc>
                  <a:txBody>
                    <a:bodyPr/>
                    <a:lstStyle/>
                    <a:p>
                      <a:r>
                        <a:rPr lang="en-ZA" sz="1600" dirty="0"/>
                        <a:t>Impairment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b="1" dirty="0"/>
                        <a:t>TBC</a:t>
                      </a:r>
                    </a:p>
                  </a:txBody>
                  <a:tcPr/>
                </a:tc>
                <a:extLst>
                  <a:ext uri="{0D108BD9-81ED-4DB2-BD59-A6C34878D82A}">
                    <a16:rowId xmlns:a16="http://schemas.microsoft.com/office/drawing/2014/main" val="1346895278"/>
                  </a:ext>
                </a:extLst>
              </a:tr>
              <a:tr h="370840">
                <a:tc>
                  <a:txBody>
                    <a:bodyPr/>
                    <a:lstStyle/>
                    <a:p>
                      <a:r>
                        <a:rPr lang="en-ZA" sz="1600" dirty="0"/>
                        <a:t>Prior Year Adjustment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b="1" dirty="0"/>
                        <a:t>TBC</a:t>
                      </a:r>
                    </a:p>
                  </a:txBody>
                  <a:tcPr/>
                </a:tc>
                <a:extLst>
                  <a:ext uri="{0D108BD9-81ED-4DB2-BD59-A6C34878D82A}">
                    <a16:rowId xmlns:a16="http://schemas.microsoft.com/office/drawing/2014/main" val="1878801459"/>
                  </a:ext>
                </a:extLst>
              </a:tr>
              <a:tr h="370840">
                <a:tc>
                  <a:txBody>
                    <a:bodyPr/>
                    <a:lstStyle/>
                    <a:p>
                      <a:r>
                        <a:rPr lang="en-ZA" sz="1600" dirty="0"/>
                        <a:t>WIP Closing Balance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b="0" dirty="0"/>
                        <a:t>Must Calculate</a:t>
                      </a:r>
                    </a:p>
                  </a:txBody>
                  <a:tcPr/>
                </a:tc>
                <a:extLst>
                  <a:ext uri="{0D108BD9-81ED-4DB2-BD59-A6C34878D82A}">
                    <a16:rowId xmlns:a16="http://schemas.microsoft.com/office/drawing/2014/main" val="1571404849"/>
                  </a:ext>
                </a:extLst>
              </a:tr>
              <a:tr h="370840">
                <a:tc>
                  <a:txBody>
                    <a:bodyPr/>
                    <a:lstStyle/>
                    <a:p>
                      <a:r>
                        <a:rPr lang="en-ZA" sz="1600" dirty="0"/>
                        <a:t>Financial Progress%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b="0" dirty="0"/>
                        <a:t>Must Calculate by taking the Contract Value less all invoices paid against the project</a:t>
                      </a:r>
                    </a:p>
                  </a:txBody>
                  <a:tcPr/>
                </a:tc>
                <a:extLst>
                  <a:ext uri="{0D108BD9-81ED-4DB2-BD59-A6C34878D82A}">
                    <a16:rowId xmlns:a16="http://schemas.microsoft.com/office/drawing/2014/main" val="2659769634"/>
                  </a:ext>
                </a:extLst>
              </a:tr>
              <a:tr h="370840">
                <a:tc>
                  <a:txBody>
                    <a:bodyPr/>
                    <a:lstStyle/>
                    <a:p>
                      <a:r>
                        <a:rPr lang="en-ZA" sz="1600" dirty="0"/>
                        <a:t>Budget Project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dirty="0"/>
                        <a:t>Must be populated from Contract Management Tables and the user must NOT be able to manage the field</a:t>
                      </a:r>
                    </a:p>
                  </a:txBody>
                  <a:tcPr/>
                </a:tc>
                <a:extLst>
                  <a:ext uri="{0D108BD9-81ED-4DB2-BD59-A6C34878D82A}">
                    <a16:rowId xmlns:a16="http://schemas.microsoft.com/office/drawing/2014/main" val="2988438692"/>
                  </a:ext>
                </a:extLst>
              </a:tr>
              <a:tr h="370840">
                <a:tc>
                  <a:txBody>
                    <a:bodyPr/>
                    <a:lstStyle/>
                    <a:p>
                      <a:r>
                        <a:rPr lang="en-ZA" sz="1600" dirty="0"/>
                        <a:t>Budget Item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dirty="0"/>
                        <a:t>Must be populated from Contract Management Tables and the user must NOT be able to manage the field</a:t>
                      </a:r>
                    </a:p>
                  </a:txBody>
                  <a:tcPr/>
                </a:tc>
                <a:extLst>
                  <a:ext uri="{0D108BD9-81ED-4DB2-BD59-A6C34878D82A}">
                    <a16:rowId xmlns:a16="http://schemas.microsoft.com/office/drawing/2014/main" val="272212456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dirty="0"/>
                        <a:t>Completion Date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dirty="0"/>
                        <a:t>Must be populated from Contract Management Tables and the user must be able to manage the field</a:t>
                      </a:r>
                    </a:p>
                  </a:txBody>
                  <a:tcPr/>
                </a:tc>
                <a:extLst>
                  <a:ext uri="{0D108BD9-81ED-4DB2-BD59-A6C34878D82A}">
                    <a16:rowId xmlns:a16="http://schemas.microsoft.com/office/drawing/2014/main" val="1100492314"/>
                  </a:ext>
                </a:extLst>
              </a:tr>
            </a:tbl>
          </a:graphicData>
        </a:graphic>
      </p:graphicFrame>
    </p:spTree>
    <p:extLst>
      <p:ext uri="{BB962C8B-B14F-4D97-AF65-F5344CB8AC3E}">
        <p14:creationId xmlns:p14="http://schemas.microsoft.com/office/powerpoint/2010/main" val="2068771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F094297F-EAEF-BC77-B6D2-CC52BC011008}"/>
              </a:ext>
            </a:extLst>
          </p:cNvPr>
          <p:cNvPicPr>
            <a:picLocks noChangeAspect="1"/>
          </p:cNvPicPr>
          <p:nvPr/>
        </p:nvPicPr>
        <p:blipFill>
          <a:blip r:embed="rId2"/>
          <a:stretch>
            <a:fillRect/>
          </a:stretch>
        </p:blipFill>
        <p:spPr>
          <a:xfrm>
            <a:off x="262180" y="2322648"/>
            <a:ext cx="11652348" cy="3773351"/>
          </a:xfrm>
          <a:prstGeom prst="rect">
            <a:avLst/>
          </a:prstGeom>
        </p:spPr>
      </p:pic>
      <p:sp>
        <p:nvSpPr>
          <p:cNvPr id="6" name="TextBox 5">
            <a:extLst>
              <a:ext uri="{FF2B5EF4-FFF2-40B4-BE49-F238E27FC236}">
                <a16:creationId xmlns:a16="http://schemas.microsoft.com/office/drawing/2014/main" id="{62135AB2-9ECE-4E20-D047-2C1B837839D9}"/>
              </a:ext>
            </a:extLst>
          </p:cNvPr>
          <p:cNvSpPr txBox="1"/>
          <p:nvPr/>
        </p:nvSpPr>
        <p:spPr>
          <a:xfrm>
            <a:off x="0" y="381697"/>
            <a:ext cx="11699635" cy="2862322"/>
          </a:xfrm>
          <a:prstGeom prst="rect">
            <a:avLst/>
          </a:prstGeom>
          <a:noFill/>
        </p:spPr>
        <p:txBody>
          <a:bodyPr wrap="square" rtlCol="0">
            <a:spAutoFit/>
          </a:bodyPr>
          <a:lstStyle/>
          <a:p>
            <a:pPr marL="342900" indent="-342900">
              <a:buAutoNum type="arabicPeriod"/>
            </a:pPr>
            <a:r>
              <a:rPr lang="en-ZA" dirty="0"/>
              <a:t>When the grid is displayed the user must be able to Trash          a line entry on the grid if the entry is not applicable to the WIP register.</a:t>
            </a:r>
          </a:p>
          <a:p>
            <a:pPr marL="342900" indent="-342900">
              <a:buAutoNum type="arabicPeriod"/>
            </a:pPr>
            <a:r>
              <a:rPr lang="en-ZA" dirty="0"/>
              <a:t>When the user click on the Trash Button the system must display the following Warning Message</a:t>
            </a:r>
          </a:p>
          <a:p>
            <a:pPr marL="342900" indent="-342900">
              <a:buAutoNum type="arabicPeriod"/>
            </a:pPr>
            <a:r>
              <a:rPr lang="en-ZA" dirty="0"/>
              <a:t>If the user selects Yes – the line entry must be removed from the grid.</a:t>
            </a:r>
          </a:p>
          <a:p>
            <a:pPr marL="342900" indent="-342900">
              <a:buAutoNum type="arabicPeriod"/>
            </a:pPr>
            <a:r>
              <a:rPr lang="en-ZA" dirty="0"/>
              <a:t>The grid must automatically refresh.</a:t>
            </a:r>
          </a:p>
          <a:p>
            <a:pPr marL="342900" indent="-342900">
              <a:buAutoNum type="arabicPeriod"/>
            </a:pPr>
            <a:r>
              <a:rPr lang="en-ZA" dirty="0"/>
              <a:t>If the User selects no, the selected line entry on the gid must stay on the grid.</a:t>
            </a:r>
          </a:p>
          <a:p>
            <a:pPr marL="342900" indent="-342900">
              <a:buAutoNum type="arabicPeriod"/>
            </a:pPr>
            <a:endParaRPr lang="en-ZA" dirty="0"/>
          </a:p>
          <a:p>
            <a:pPr marL="342900" indent="-342900">
              <a:buAutoNum type="arabicPeriod"/>
            </a:pPr>
            <a:endParaRPr lang="en-ZA" dirty="0"/>
          </a:p>
          <a:p>
            <a:pPr marL="342900" indent="-342900">
              <a:buAutoNum type="arabicPeriod"/>
            </a:pPr>
            <a:endParaRPr lang="en-ZA" dirty="0"/>
          </a:p>
          <a:p>
            <a:pPr marL="342900" indent="-342900">
              <a:buAutoNum type="arabicPeriod"/>
            </a:pPr>
            <a:endParaRPr lang="en-ZA" dirty="0"/>
          </a:p>
        </p:txBody>
      </p:sp>
      <p:pic>
        <p:nvPicPr>
          <p:cNvPr id="7" name="Picture 6">
            <a:extLst>
              <a:ext uri="{FF2B5EF4-FFF2-40B4-BE49-F238E27FC236}">
                <a16:creationId xmlns:a16="http://schemas.microsoft.com/office/drawing/2014/main" id="{85E5EEC3-ED81-23D3-A37C-45AEFCED1970}"/>
              </a:ext>
            </a:extLst>
          </p:cNvPr>
          <p:cNvPicPr>
            <a:picLocks noChangeAspect="1"/>
          </p:cNvPicPr>
          <p:nvPr/>
        </p:nvPicPr>
        <p:blipFill>
          <a:blip r:embed="rId3"/>
          <a:stretch>
            <a:fillRect/>
          </a:stretch>
        </p:blipFill>
        <p:spPr>
          <a:xfrm>
            <a:off x="5910236" y="383706"/>
            <a:ext cx="371527" cy="266737"/>
          </a:xfrm>
          <a:prstGeom prst="rect">
            <a:avLst/>
          </a:prstGeom>
        </p:spPr>
      </p:pic>
      <p:pic>
        <p:nvPicPr>
          <p:cNvPr id="20" name="Picture 19">
            <a:extLst>
              <a:ext uri="{FF2B5EF4-FFF2-40B4-BE49-F238E27FC236}">
                <a16:creationId xmlns:a16="http://schemas.microsoft.com/office/drawing/2014/main" id="{E777031F-8C1A-0703-7EF9-CE982B72E9BC}"/>
              </a:ext>
            </a:extLst>
          </p:cNvPr>
          <p:cNvPicPr>
            <a:picLocks noChangeAspect="1"/>
          </p:cNvPicPr>
          <p:nvPr/>
        </p:nvPicPr>
        <p:blipFill>
          <a:blip r:embed="rId4"/>
          <a:stretch>
            <a:fillRect/>
          </a:stretch>
        </p:blipFill>
        <p:spPr>
          <a:xfrm>
            <a:off x="2375968" y="4530923"/>
            <a:ext cx="7068536" cy="1943371"/>
          </a:xfrm>
          <a:prstGeom prst="rect">
            <a:avLst/>
          </a:prstGeom>
          <a:ln w="53975">
            <a:solidFill>
              <a:srgbClr val="FF0000"/>
            </a:solidFill>
          </a:ln>
        </p:spPr>
      </p:pic>
    </p:spTree>
    <p:extLst>
      <p:ext uri="{BB962C8B-B14F-4D97-AF65-F5344CB8AC3E}">
        <p14:creationId xmlns:p14="http://schemas.microsoft.com/office/powerpoint/2010/main" val="4026572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6E4B25-693F-967A-5ADF-7D5FCAACED9E}"/>
              </a:ext>
            </a:extLst>
          </p:cNvPr>
          <p:cNvPicPr>
            <a:picLocks noChangeAspect="1"/>
          </p:cNvPicPr>
          <p:nvPr/>
        </p:nvPicPr>
        <p:blipFill>
          <a:blip r:embed="rId2"/>
          <a:stretch>
            <a:fillRect/>
          </a:stretch>
        </p:blipFill>
        <p:spPr>
          <a:xfrm>
            <a:off x="192273" y="129428"/>
            <a:ext cx="11792177" cy="1719692"/>
          </a:xfrm>
          <a:prstGeom prst="rect">
            <a:avLst/>
          </a:prstGeom>
          <a:ln>
            <a:solidFill>
              <a:schemeClr val="tx1"/>
            </a:solidFill>
          </a:ln>
        </p:spPr>
      </p:pic>
      <p:sp>
        <p:nvSpPr>
          <p:cNvPr id="6" name="TextBox 5">
            <a:extLst>
              <a:ext uri="{FF2B5EF4-FFF2-40B4-BE49-F238E27FC236}">
                <a16:creationId xmlns:a16="http://schemas.microsoft.com/office/drawing/2014/main" id="{00BD8D53-E475-0F1E-8810-AF20069567C1}"/>
              </a:ext>
            </a:extLst>
          </p:cNvPr>
          <p:cNvSpPr txBox="1"/>
          <p:nvPr/>
        </p:nvSpPr>
        <p:spPr>
          <a:xfrm>
            <a:off x="192273" y="1799801"/>
            <a:ext cx="11344370" cy="369332"/>
          </a:xfrm>
          <a:prstGeom prst="rect">
            <a:avLst/>
          </a:prstGeom>
          <a:noFill/>
        </p:spPr>
        <p:txBody>
          <a:bodyPr wrap="square" rtlCol="0">
            <a:spAutoFit/>
          </a:bodyPr>
          <a:lstStyle/>
          <a:p>
            <a:r>
              <a:rPr lang="en-ZA" dirty="0"/>
              <a:t>If the user select a entry on the grid the following screen must display showing all the details for the project.</a:t>
            </a:r>
          </a:p>
        </p:txBody>
      </p:sp>
      <p:pic>
        <p:nvPicPr>
          <p:cNvPr id="10" name="Picture 9">
            <a:extLst>
              <a:ext uri="{FF2B5EF4-FFF2-40B4-BE49-F238E27FC236}">
                <a16:creationId xmlns:a16="http://schemas.microsoft.com/office/drawing/2014/main" id="{6A30C931-86C7-1E08-E203-E42C6DF03FDA}"/>
              </a:ext>
            </a:extLst>
          </p:cNvPr>
          <p:cNvPicPr>
            <a:picLocks noChangeAspect="1"/>
          </p:cNvPicPr>
          <p:nvPr/>
        </p:nvPicPr>
        <p:blipFill>
          <a:blip r:embed="rId3"/>
          <a:stretch>
            <a:fillRect/>
          </a:stretch>
        </p:blipFill>
        <p:spPr>
          <a:xfrm>
            <a:off x="207550" y="2119813"/>
            <a:ext cx="7992577" cy="4608759"/>
          </a:xfrm>
          <a:prstGeom prst="rect">
            <a:avLst/>
          </a:prstGeom>
          <a:ln>
            <a:solidFill>
              <a:schemeClr val="tx1"/>
            </a:solidFill>
          </a:ln>
        </p:spPr>
      </p:pic>
      <p:grpSp>
        <p:nvGrpSpPr>
          <p:cNvPr id="16" name="Group 15">
            <a:extLst>
              <a:ext uri="{FF2B5EF4-FFF2-40B4-BE49-F238E27FC236}">
                <a16:creationId xmlns:a16="http://schemas.microsoft.com/office/drawing/2014/main" id="{2148025F-9D43-12EB-1D13-85EC181A4980}"/>
              </a:ext>
            </a:extLst>
          </p:cNvPr>
          <p:cNvGrpSpPr/>
          <p:nvPr/>
        </p:nvGrpSpPr>
        <p:grpSpPr>
          <a:xfrm>
            <a:off x="392497" y="6228020"/>
            <a:ext cx="1609023" cy="312544"/>
            <a:chOff x="8713537" y="3901380"/>
            <a:chExt cx="1609023" cy="312544"/>
          </a:xfrm>
        </p:grpSpPr>
        <p:pic>
          <p:nvPicPr>
            <p:cNvPr id="13" name="Picture 12">
              <a:extLst>
                <a:ext uri="{FF2B5EF4-FFF2-40B4-BE49-F238E27FC236}">
                  <a16:creationId xmlns:a16="http://schemas.microsoft.com/office/drawing/2014/main" id="{3F6C666C-A752-B1B2-69B8-53CC21970457}"/>
                </a:ext>
              </a:extLst>
            </p:cNvPr>
            <p:cNvPicPr>
              <a:picLocks noChangeAspect="1"/>
            </p:cNvPicPr>
            <p:nvPr/>
          </p:nvPicPr>
          <p:blipFill>
            <a:blip r:embed="rId4"/>
            <a:stretch>
              <a:fillRect/>
            </a:stretch>
          </p:blipFill>
          <p:spPr>
            <a:xfrm>
              <a:off x="8713537" y="3901380"/>
              <a:ext cx="1609023" cy="312544"/>
            </a:xfrm>
            <a:prstGeom prst="rect">
              <a:avLst/>
            </a:prstGeom>
          </p:spPr>
        </p:pic>
        <p:sp>
          <p:nvSpPr>
            <p:cNvPr id="14" name="TextBox 13">
              <a:extLst>
                <a:ext uri="{FF2B5EF4-FFF2-40B4-BE49-F238E27FC236}">
                  <a16:creationId xmlns:a16="http://schemas.microsoft.com/office/drawing/2014/main" id="{EF2EB1E1-A6AA-BB29-D7E9-12186D2A335F}"/>
                </a:ext>
              </a:extLst>
            </p:cNvPr>
            <p:cNvSpPr txBox="1"/>
            <p:nvPr/>
          </p:nvSpPr>
          <p:spPr>
            <a:xfrm>
              <a:off x="8713537" y="3904119"/>
              <a:ext cx="1609023" cy="276999"/>
            </a:xfrm>
            <a:prstGeom prst="rect">
              <a:avLst/>
            </a:prstGeom>
            <a:noFill/>
          </p:spPr>
          <p:txBody>
            <a:bodyPr wrap="square" rtlCol="0">
              <a:spAutoFit/>
            </a:bodyPr>
            <a:lstStyle/>
            <a:p>
              <a:r>
                <a:rPr lang="en-ZA" sz="1200" dirty="0"/>
                <a:t>Add to WIP Register</a:t>
              </a:r>
            </a:p>
          </p:txBody>
        </p:sp>
      </p:grpSp>
      <p:grpSp>
        <p:nvGrpSpPr>
          <p:cNvPr id="17" name="Group 16">
            <a:extLst>
              <a:ext uri="{FF2B5EF4-FFF2-40B4-BE49-F238E27FC236}">
                <a16:creationId xmlns:a16="http://schemas.microsoft.com/office/drawing/2014/main" id="{A91689BC-5735-9D64-3882-157BB8354B34}"/>
              </a:ext>
            </a:extLst>
          </p:cNvPr>
          <p:cNvGrpSpPr/>
          <p:nvPr/>
        </p:nvGrpSpPr>
        <p:grpSpPr>
          <a:xfrm>
            <a:off x="2282257" y="6228020"/>
            <a:ext cx="1609023" cy="320877"/>
            <a:chOff x="8713537" y="3295170"/>
            <a:chExt cx="1609023" cy="320877"/>
          </a:xfrm>
        </p:grpSpPr>
        <p:pic>
          <p:nvPicPr>
            <p:cNvPr id="12" name="Picture 11">
              <a:extLst>
                <a:ext uri="{FF2B5EF4-FFF2-40B4-BE49-F238E27FC236}">
                  <a16:creationId xmlns:a16="http://schemas.microsoft.com/office/drawing/2014/main" id="{C8B1DB57-041A-5A79-CA69-C1034A3272DB}"/>
                </a:ext>
              </a:extLst>
            </p:cNvPr>
            <p:cNvPicPr>
              <a:picLocks noChangeAspect="1"/>
            </p:cNvPicPr>
            <p:nvPr/>
          </p:nvPicPr>
          <p:blipFill>
            <a:blip r:embed="rId4"/>
            <a:stretch>
              <a:fillRect/>
            </a:stretch>
          </p:blipFill>
          <p:spPr>
            <a:xfrm>
              <a:off x="8713537" y="3295170"/>
              <a:ext cx="1609023" cy="312544"/>
            </a:xfrm>
            <a:prstGeom prst="rect">
              <a:avLst/>
            </a:prstGeom>
          </p:spPr>
        </p:pic>
        <p:sp>
          <p:nvSpPr>
            <p:cNvPr id="15" name="TextBox 14">
              <a:extLst>
                <a:ext uri="{FF2B5EF4-FFF2-40B4-BE49-F238E27FC236}">
                  <a16:creationId xmlns:a16="http://schemas.microsoft.com/office/drawing/2014/main" id="{6F3285A5-6AF6-8FB3-C111-B703069AAE5D}"/>
                </a:ext>
              </a:extLst>
            </p:cNvPr>
            <p:cNvSpPr txBox="1"/>
            <p:nvPr/>
          </p:nvSpPr>
          <p:spPr>
            <a:xfrm>
              <a:off x="8713537" y="3339048"/>
              <a:ext cx="1609023" cy="276999"/>
            </a:xfrm>
            <a:prstGeom prst="rect">
              <a:avLst/>
            </a:prstGeom>
            <a:noFill/>
          </p:spPr>
          <p:txBody>
            <a:bodyPr wrap="square" rtlCol="0">
              <a:spAutoFit/>
            </a:bodyPr>
            <a:lstStyle/>
            <a:p>
              <a:r>
                <a:rPr lang="en-ZA" sz="1200" dirty="0"/>
                <a:t>Cancel</a:t>
              </a:r>
            </a:p>
          </p:txBody>
        </p:sp>
      </p:grpSp>
      <p:sp>
        <p:nvSpPr>
          <p:cNvPr id="18" name="TextBox 17">
            <a:extLst>
              <a:ext uri="{FF2B5EF4-FFF2-40B4-BE49-F238E27FC236}">
                <a16:creationId xmlns:a16="http://schemas.microsoft.com/office/drawing/2014/main" id="{FF265EE5-6561-62C7-3583-1624D36A4867}"/>
              </a:ext>
            </a:extLst>
          </p:cNvPr>
          <p:cNvSpPr txBox="1"/>
          <p:nvPr/>
        </p:nvSpPr>
        <p:spPr>
          <a:xfrm>
            <a:off x="8351519" y="2678234"/>
            <a:ext cx="3436985" cy="2585323"/>
          </a:xfrm>
          <a:prstGeom prst="rect">
            <a:avLst/>
          </a:prstGeom>
          <a:noFill/>
        </p:spPr>
        <p:txBody>
          <a:bodyPr wrap="square" rtlCol="0">
            <a:spAutoFit/>
          </a:bodyPr>
          <a:lstStyle/>
          <a:p>
            <a:r>
              <a:rPr lang="en-ZA" dirty="0"/>
              <a:t>If the user select the Add to WIP register button, the applicable data must be populated in the WIP Register and the WIP Register Project Detail Tables</a:t>
            </a:r>
          </a:p>
          <a:p>
            <a:endParaRPr lang="en-ZA" dirty="0"/>
          </a:p>
          <a:p>
            <a:r>
              <a:rPr lang="en-ZA" dirty="0"/>
              <a:t>If the user select the Cancel Button, revert back to the Create/Add to WIP Register Page</a:t>
            </a:r>
          </a:p>
        </p:txBody>
      </p:sp>
    </p:spTree>
    <p:extLst>
      <p:ext uri="{BB962C8B-B14F-4D97-AF65-F5344CB8AC3E}">
        <p14:creationId xmlns:p14="http://schemas.microsoft.com/office/powerpoint/2010/main" val="2875397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AAC3A9-C258-BE0C-816A-156C9DADFEE1}"/>
              </a:ext>
            </a:extLst>
          </p:cNvPr>
          <p:cNvPicPr>
            <a:picLocks noChangeAspect="1"/>
          </p:cNvPicPr>
          <p:nvPr/>
        </p:nvPicPr>
        <p:blipFill>
          <a:blip r:embed="rId2"/>
          <a:stretch>
            <a:fillRect/>
          </a:stretch>
        </p:blipFill>
        <p:spPr>
          <a:xfrm>
            <a:off x="1463040" y="495430"/>
            <a:ext cx="8808720" cy="2225945"/>
          </a:xfrm>
          <a:prstGeom prst="rect">
            <a:avLst/>
          </a:prstGeom>
          <a:ln>
            <a:solidFill>
              <a:schemeClr val="tx1"/>
            </a:solidFill>
          </a:ln>
        </p:spPr>
      </p:pic>
      <p:sp>
        <p:nvSpPr>
          <p:cNvPr id="6" name="Rectangle: Rounded Corners 5">
            <a:extLst>
              <a:ext uri="{FF2B5EF4-FFF2-40B4-BE49-F238E27FC236}">
                <a16:creationId xmlns:a16="http://schemas.microsoft.com/office/drawing/2014/main" id="{0BA1D393-C9F5-B85F-1B73-F250911F5FD0}"/>
              </a:ext>
            </a:extLst>
          </p:cNvPr>
          <p:cNvSpPr/>
          <p:nvPr/>
        </p:nvSpPr>
        <p:spPr>
          <a:xfrm>
            <a:off x="5867400" y="1137920"/>
            <a:ext cx="4328160" cy="129032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TextBox 6">
            <a:extLst>
              <a:ext uri="{FF2B5EF4-FFF2-40B4-BE49-F238E27FC236}">
                <a16:creationId xmlns:a16="http://schemas.microsoft.com/office/drawing/2014/main" id="{D914F8A2-E674-0427-014F-A0DCD324D9ED}"/>
              </a:ext>
            </a:extLst>
          </p:cNvPr>
          <p:cNvSpPr txBox="1"/>
          <p:nvPr/>
        </p:nvSpPr>
        <p:spPr>
          <a:xfrm>
            <a:off x="1463040" y="3125274"/>
            <a:ext cx="8808720" cy="646331"/>
          </a:xfrm>
          <a:prstGeom prst="rect">
            <a:avLst/>
          </a:prstGeom>
          <a:noFill/>
        </p:spPr>
        <p:txBody>
          <a:bodyPr wrap="square" rtlCol="0">
            <a:spAutoFit/>
          </a:bodyPr>
          <a:lstStyle/>
          <a:p>
            <a:r>
              <a:rPr lang="en-ZA" dirty="0"/>
              <a:t>When the user select the Add New option on the Create/Add to WIP Register button, the following screen must display.</a:t>
            </a:r>
          </a:p>
        </p:txBody>
      </p:sp>
    </p:spTree>
    <p:extLst>
      <p:ext uri="{BB962C8B-B14F-4D97-AF65-F5344CB8AC3E}">
        <p14:creationId xmlns:p14="http://schemas.microsoft.com/office/powerpoint/2010/main" val="2526899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1902B62-9F89-1907-18AF-E5E2E3CA9B79}"/>
              </a:ext>
            </a:extLst>
          </p:cNvPr>
          <p:cNvPicPr>
            <a:picLocks noChangeAspect="1"/>
          </p:cNvPicPr>
          <p:nvPr/>
        </p:nvPicPr>
        <p:blipFill>
          <a:blip r:embed="rId2"/>
          <a:stretch>
            <a:fillRect/>
          </a:stretch>
        </p:blipFill>
        <p:spPr>
          <a:xfrm>
            <a:off x="237656" y="225980"/>
            <a:ext cx="11629224" cy="1179634"/>
          </a:xfrm>
          <a:prstGeom prst="rect">
            <a:avLst/>
          </a:prstGeom>
        </p:spPr>
      </p:pic>
      <p:pic>
        <p:nvPicPr>
          <p:cNvPr id="7" name="Picture 6">
            <a:extLst>
              <a:ext uri="{FF2B5EF4-FFF2-40B4-BE49-F238E27FC236}">
                <a16:creationId xmlns:a16="http://schemas.microsoft.com/office/drawing/2014/main" id="{ACE11A33-7F0F-D17E-0F81-754F2517F2F1}"/>
              </a:ext>
            </a:extLst>
          </p:cNvPr>
          <p:cNvPicPr>
            <a:picLocks noChangeAspect="1"/>
          </p:cNvPicPr>
          <p:nvPr/>
        </p:nvPicPr>
        <p:blipFill>
          <a:blip r:embed="rId3"/>
          <a:stretch>
            <a:fillRect/>
          </a:stretch>
        </p:blipFill>
        <p:spPr>
          <a:xfrm>
            <a:off x="417066" y="320652"/>
            <a:ext cx="1848108" cy="323895"/>
          </a:xfrm>
          <a:prstGeom prst="rect">
            <a:avLst/>
          </a:prstGeom>
        </p:spPr>
      </p:pic>
      <p:sp>
        <p:nvSpPr>
          <p:cNvPr id="8" name="TextBox 7">
            <a:extLst>
              <a:ext uri="{FF2B5EF4-FFF2-40B4-BE49-F238E27FC236}">
                <a16:creationId xmlns:a16="http://schemas.microsoft.com/office/drawing/2014/main" id="{19B0D976-2813-95EF-61F5-EB0D2582A85B}"/>
              </a:ext>
            </a:extLst>
          </p:cNvPr>
          <p:cNvSpPr txBox="1"/>
          <p:nvPr/>
        </p:nvSpPr>
        <p:spPr>
          <a:xfrm>
            <a:off x="417066" y="320652"/>
            <a:ext cx="2479040" cy="276999"/>
          </a:xfrm>
          <a:prstGeom prst="rect">
            <a:avLst/>
          </a:prstGeom>
          <a:noFill/>
        </p:spPr>
        <p:txBody>
          <a:bodyPr wrap="square" rtlCol="0">
            <a:spAutoFit/>
          </a:bodyPr>
          <a:lstStyle/>
          <a:p>
            <a:r>
              <a:rPr lang="en-ZA" sz="1200" dirty="0"/>
              <a:t>Add new WIP Project</a:t>
            </a:r>
          </a:p>
        </p:txBody>
      </p:sp>
      <p:pic>
        <p:nvPicPr>
          <p:cNvPr id="12" name="Picture 11">
            <a:extLst>
              <a:ext uri="{FF2B5EF4-FFF2-40B4-BE49-F238E27FC236}">
                <a16:creationId xmlns:a16="http://schemas.microsoft.com/office/drawing/2014/main" id="{3A0EF3CF-3F07-7D4C-47EA-5825EBCBE3AB}"/>
              </a:ext>
            </a:extLst>
          </p:cNvPr>
          <p:cNvPicPr>
            <a:picLocks noChangeAspect="1"/>
          </p:cNvPicPr>
          <p:nvPr/>
        </p:nvPicPr>
        <p:blipFill>
          <a:blip r:embed="rId4"/>
          <a:stretch>
            <a:fillRect/>
          </a:stretch>
        </p:blipFill>
        <p:spPr>
          <a:xfrm>
            <a:off x="840574" y="869292"/>
            <a:ext cx="2774597" cy="380388"/>
          </a:xfrm>
          <a:prstGeom prst="rect">
            <a:avLst/>
          </a:prstGeom>
        </p:spPr>
      </p:pic>
      <p:sp>
        <p:nvSpPr>
          <p:cNvPr id="9" name="TextBox 8">
            <a:extLst>
              <a:ext uri="{FF2B5EF4-FFF2-40B4-BE49-F238E27FC236}">
                <a16:creationId xmlns:a16="http://schemas.microsoft.com/office/drawing/2014/main" id="{EB12354B-6243-FD02-FE30-0954A8DF89F4}"/>
              </a:ext>
            </a:extLst>
          </p:cNvPr>
          <p:cNvSpPr txBox="1"/>
          <p:nvPr/>
        </p:nvSpPr>
        <p:spPr>
          <a:xfrm>
            <a:off x="840574" y="893912"/>
            <a:ext cx="2479040" cy="276999"/>
          </a:xfrm>
          <a:prstGeom prst="rect">
            <a:avLst/>
          </a:prstGeom>
          <a:noFill/>
        </p:spPr>
        <p:txBody>
          <a:bodyPr wrap="square" rtlCol="0">
            <a:spAutoFit/>
          </a:bodyPr>
          <a:lstStyle/>
          <a:p>
            <a:r>
              <a:rPr lang="en-ZA" sz="1200" dirty="0"/>
              <a:t>Capture WIP Project Details</a:t>
            </a:r>
          </a:p>
        </p:txBody>
      </p:sp>
      <p:pic>
        <p:nvPicPr>
          <p:cNvPr id="14" name="Picture 13">
            <a:extLst>
              <a:ext uri="{FF2B5EF4-FFF2-40B4-BE49-F238E27FC236}">
                <a16:creationId xmlns:a16="http://schemas.microsoft.com/office/drawing/2014/main" id="{2FC159FC-8107-8512-0AFF-6B95809503B9}"/>
              </a:ext>
            </a:extLst>
          </p:cNvPr>
          <p:cNvPicPr>
            <a:picLocks noChangeAspect="1"/>
          </p:cNvPicPr>
          <p:nvPr/>
        </p:nvPicPr>
        <p:blipFill>
          <a:blip r:embed="rId5"/>
          <a:stretch>
            <a:fillRect/>
          </a:stretch>
        </p:blipFill>
        <p:spPr>
          <a:xfrm>
            <a:off x="6279692" y="932384"/>
            <a:ext cx="2010056" cy="200053"/>
          </a:xfrm>
          <a:prstGeom prst="rect">
            <a:avLst/>
          </a:prstGeom>
        </p:spPr>
      </p:pic>
      <p:sp>
        <p:nvSpPr>
          <p:cNvPr id="10" name="TextBox 9">
            <a:extLst>
              <a:ext uri="{FF2B5EF4-FFF2-40B4-BE49-F238E27FC236}">
                <a16:creationId xmlns:a16="http://schemas.microsoft.com/office/drawing/2014/main" id="{FE426DDC-53E2-370B-0D2D-2B9853D5B13D}"/>
              </a:ext>
            </a:extLst>
          </p:cNvPr>
          <p:cNvSpPr txBox="1"/>
          <p:nvPr/>
        </p:nvSpPr>
        <p:spPr>
          <a:xfrm>
            <a:off x="6321717" y="893910"/>
            <a:ext cx="2479040" cy="276999"/>
          </a:xfrm>
          <a:prstGeom prst="rect">
            <a:avLst/>
          </a:prstGeom>
          <a:noFill/>
        </p:spPr>
        <p:txBody>
          <a:bodyPr wrap="square" rtlCol="0">
            <a:spAutoFit/>
          </a:bodyPr>
          <a:lstStyle/>
          <a:p>
            <a:r>
              <a:rPr lang="en-ZA" sz="1200" dirty="0">
                <a:solidFill>
                  <a:schemeClr val="bg1"/>
                </a:solidFill>
              </a:rPr>
              <a:t>Approve New WIP Project</a:t>
            </a:r>
          </a:p>
        </p:txBody>
      </p:sp>
      <p:pic>
        <p:nvPicPr>
          <p:cNvPr id="18" name="Picture 17">
            <a:extLst>
              <a:ext uri="{FF2B5EF4-FFF2-40B4-BE49-F238E27FC236}">
                <a16:creationId xmlns:a16="http://schemas.microsoft.com/office/drawing/2014/main" id="{94CE5F07-E0EA-D67F-AC43-E8DF8BC1E0D9}"/>
              </a:ext>
            </a:extLst>
          </p:cNvPr>
          <p:cNvPicPr>
            <a:picLocks noChangeAspect="1"/>
          </p:cNvPicPr>
          <p:nvPr/>
        </p:nvPicPr>
        <p:blipFill>
          <a:blip r:embed="rId6"/>
          <a:stretch>
            <a:fillRect/>
          </a:stretch>
        </p:blipFill>
        <p:spPr>
          <a:xfrm>
            <a:off x="417066" y="1405614"/>
            <a:ext cx="11449814" cy="1658202"/>
          </a:xfrm>
          <a:prstGeom prst="rect">
            <a:avLst/>
          </a:prstGeom>
        </p:spPr>
      </p:pic>
      <p:sp>
        <p:nvSpPr>
          <p:cNvPr id="19" name="TextBox 18">
            <a:extLst>
              <a:ext uri="{FF2B5EF4-FFF2-40B4-BE49-F238E27FC236}">
                <a16:creationId xmlns:a16="http://schemas.microsoft.com/office/drawing/2014/main" id="{239D0285-E19C-7FCF-2E2F-A7EA8D9774BF}"/>
              </a:ext>
            </a:extLst>
          </p:cNvPr>
          <p:cNvSpPr txBox="1"/>
          <p:nvPr/>
        </p:nvSpPr>
        <p:spPr>
          <a:xfrm>
            <a:off x="371093" y="3995678"/>
            <a:ext cx="11449814" cy="2862322"/>
          </a:xfrm>
          <a:prstGeom prst="rect">
            <a:avLst/>
          </a:prstGeom>
          <a:noFill/>
        </p:spPr>
        <p:txBody>
          <a:bodyPr wrap="square" rtlCol="0">
            <a:spAutoFit/>
          </a:bodyPr>
          <a:lstStyle/>
          <a:p>
            <a:r>
              <a:rPr lang="en-ZA" b="1" dirty="0"/>
              <a:t>WIP ID </a:t>
            </a:r>
            <a:r>
              <a:rPr lang="en-ZA" dirty="0"/>
              <a:t>– The WIP ID must be automatically generated with the next available unique system WIP ID.  This field is not editable.</a:t>
            </a:r>
          </a:p>
          <a:p>
            <a:r>
              <a:rPr lang="en-ZA" b="1" dirty="0"/>
              <a:t>Project Number </a:t>
            </a:r>
            <a:r>
              <a:rPr lang="en-ZA" dirty="0"/>
              <a:t>– The project number field is an open type in field. This field is compulsory.</a:t>
            </a:r>
          </a:p>
          <a:p>
            <a:r>
              <a:rPr lang="en-ZA" b="1" dirty="0"/>
              <a:t>Asset Register ID </a:t>
            </a:r>
            <a:r>
              <a:rPr lang="en-ZA" dirty="0"/>
              <a:t>– This is a type in numeric field and must validate against the asset register ID’s</a:t>
            </a:r>
          </a:p>
          <a:p>
            <a:r>
              <a:rPr lang="en-ZA" b="1" dirty="0"/>
              <a:t>Project Status </a:t>
            </a:r>
            <a:r>
              <a:rPr lang="en-ZA" dirty="0"/>
              <a:t>– Validates against the new WIP setting. Must be a drop down for user to select from.</a:t>
            </a:r>
          </a:p>
          <a:p>
            <a:r>
              <a:rPr lang="en-ZA" b="1" dirty="0"/>
              <a:t>Contract Start date and Contract End date </a:t>
            </a:r>
            <a:r>
              <a:rPr lang="en-ZA" dirty="0"/>
              <a:t>– Date field – User to select date from a Calander.</a:t>
            </a:r>
          </a:p>
          <a:p>
            <a:r>
              <a:rPr lang="en-ZA" b="1" dirty="0"/>
              <a:t>Project Name/Description </a:t>
            </a:r>
            <a:r>
              <a:rPr lang="en-ZA" dirty="0"/>
              <a:t>– Type in field</a:t>
            </a:r>
          </a:p>
          <a:p>
            <a:r>
              <a:rPr lang="en-ZA" b="1" dirty="0"/>
              <a:t>SCM Contract Number </a:t>
            </a:r>
            <a:r>
              <a:rPr lang="en-ZA" dirty="0"/>
              <a:t>– Type in field</a:t>
            </a:r>
          </a:p>
          <a:p>
            <a:r>
              <a:rPr lang="en-ZA" b="1" dirty="0"/>
              <a:t>Funding Source </a:t>
            </a:r>
            <a:r>
              <a:rPr lang="en-ZA" dirty="0"/>
              <a:t>- Validates against the new WIP setting. Must be a drop down for user to select from</a:t>
            </a:r>
          </a:p>
          <a:p>
            <a:r>
              <a:rPr lang="en-ZA" b="1" dirty="0"/>
              <a:t>Funding Type </a:t>
            </a:r>
            <a:r>
              <a:rPr lang="en-ZA" dirty="0"/>
              <a:t>- Validates against the new WIP setting. Must be a drop down for user to select from</a:t>
            </a:r>
          </a:p>
        </p:txBody>
      </p:sp>
      <p:pic>
        <p:nvPicPr>
          <p:cNvPr id="3" name="Picture 2">
            <a:extLst>
              <a:ext uri="{FF2B5EF4-FFF2-40B4-BE49-F238E27FC236}">
                <a16:creationId xmlns:a16="http://schemas.microsoft.com/office/drawing/2014/main" id="{365CC943-096C-5B88-1A40-30141D5A3BE8}"/>
              </a:ext>
            </a:extLst>
          </p:cNvPr>
          <p:cNvPicPr>
            <a:picLocks noChangeAspect="1"/>
          </p:cNvPicPr>
          <p:nvPr/>
        </p:nvPicPr>
        <p:blipFill>
          <a:blip r:embed="rId7"/>
          <a:stretch>
            <a:fillRect/>
          </a:stretch>
        </p:blipFill>
        <p:spPr>
          <a:xfrm>
            <a:off x="371093" y="3234611"/>
            <a:ext cx="2307435" cy="439180"/>
          </a:xfrm>
          <a:prstGeom prst="rect">
            <a:avLst/>
          </a:prstGeom>
        </p:spPr>
      </p:pic>
    </p:spTree>
    <p:extLst>
      <p:ext uri="{BB962C8B-B14F-4D97-AF65-F5344CB8AC3E}">
        <p14:creationId xmlns:p14="http://schemas.microsoft.com/office/powerpoint/2010/main" val="2046391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ECB94-0A6F-35D4-F5D5-F3B65ED832F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DA6F4E2-24B6-CF31-8A80-857ADD6E51A0}"/>
              </a:ext>
            </a:extLst>
          </p:cNvPr>
          <p:cNvSpPr txBox="1"/>
          <p:nvPr/>
        </p:nvSpPr>
        <p:spPr>
          <a:xfrm>
            <a:off x="274826" y="528320"/>
            <a:ext cx="11449814" cy="4247317"/>
          </a:xfrm>
          <a:prstGeom prst="rect">
            <a:avLst/>
          </a:prstGeom>
          <a:noFill/>
        </p:spPr>
        <p:txBody>
          <a:bodyPr wrap="square" rtlCol="0">
            <a:spAutoFit/>
          </a:bodyPr>
          <a:lstStyle/>
          <a:p>
            <a:r>
              <a:rPr lang="en-ZA" b="1" dirty="0"/>
              <a:t>Department</a:t>
            </a:r>
            <a:r>
              <a:rPr lang="en-ZA" dirty="0"/>
              <a:t> – Validates against the General Settings – Drop down for user to select from</a:t>
            </a:r>
          </a:p>
          <a:p>
            <a:r>
              <a:rPr lang="en-ZA" b="1" dirty="0"/>
              <a:t>Division</a:t>
            </a:r>
            <a:r>
              <a:rPr lang="en-ZA" dirty="0"/>
              <a:t> – Validates against the General Settings – Display only divisions related to the selected department.  Drop down to select the divisions</a:t>
            </a:r>
          </a:p>
          <a:p>
            <a:r>
              <a:rPr lang="en-ZA" b="1" dirty="0"/>
              <a:t>Custodians</a:t>
            </a:r>
            <a:r>
              <a:rPr lang="en-ZA" dirty="0"/>
              <a:t> – Validates against HR and Payroll. Dropdown for user to select from</a:t>
            </a:r>
          </a:p>
          <a:p>
            <a:r>
              <a:rPr lang="en-ZA" b="1" dirty="0"/>
              <a:t>Latitude and Longitude </a:t>
            </a:r>
            <a:r>
              <a:rPr lang="en-ZA" dirty="0"/>
              <a:t>– Type in fields</a:t>
            </a:r>
          </a:p>
          <a:p>
            <a:r>
              <a:rPr lang="en-ZA" b="1" dirty="0"/>
              <a:t>Contract Value </a:t>
            </a:r>
            <a:r>
              <a:rPr lang="en-ZA" dirty="0"/>
              <a:t>– Type in field, numeric.</a:t>
            </a:r>
          </a:p>
          <a:p>
            <a:r>
              <a:rPr lang="en-ZA" b="1" dirty="0"/>
              <a:t>Budget Project </a:t>
            </a:r>
            <a:r>
              <a:rPr lang="en-ZA" dirty="0"/>
              <a:t>– Validates against the Budget.  Drop down for user to select from</a:t>
            </a:r>
          </a:p>
          <a:p>
            <a:r>
              <a:rPr lang="en-ZA" b="1" dirty="0"/>
              <a:t>Project Item </a:t>
            </a:r>
            <a:r>
              <a:rPr lang="en-ZA" dirty="0"/>
              <a:t>– Validates against the budget and must only display the items related to the Project Selected. Drop down for user to select from.</a:t>
            </a:r>
          </a:p>
          <a:p>
            <a:endParaRPr lang="en-ZA" dirty="0"/>
          </a:p>
          <a:p>
            <a:endParaRPr lang="en-ZA" dirty="0"/>
          </a:p>
          <a:p>
            <a:r>
              <a:rPr lang="en-ZA" dirty="0"/>
              <a:t>When the user have completed the form and click on submit, the data must be added to the WIP Register</a:t>
            </a:r>
          </a:p>
          <a:p>
            <a:endParaRPr lang="en-ZA" dirty="0"/>
          </a:p>
          <a:p>
            <a:r>
              <a:rPr lang="en-ZA" dirty="0"/>
              <a:t>When the User click on cancel, the system must default back to the Create/Add to WIP register Page.</a:t>
            </a:r>
          </a:p>
          <a:p>
            <a:endParaRPr lang="en-ZA" dirty="0"/>
          </a:p>
        </p:txBody>
      </p:sp>
    </p:spTree>
    <p:extLst>
      <p:ext uri="{BB962C8B-B14F-4D97-AF65-F5344CB8AC3E}">
        <p14:creationId xmlns:p14="http://schemas.microsoft.com/office/powerpoint/2010/main" val="24660205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2B741FD-7BD3-ADAB-BCBA-7FDA09505A46}"/>
              </a:ext>
            </a:extLst>
          </p:cNvPr>
          <p:cNvSpPr txBox="1"/>
          <p:nvPr/>
        </p:nvSpPr>
        <p:spPr>
          <a:xfrm>
            <a:off x="274826" y="528320"/>
            <a:ext cx="11449814" cy="1200329"/>
          </a:xfrm>
          <a:prstGeom prst="rect">
            <a:avLst/>
          </a:prstGeom>
          <a:noFill/>
        </p:spPr>
        <p:txBody>
          <a:bodyPr wrap="square" rtlCol="0">
            <a:spAutoFit/>
          </a:bodyPr>
          <a:lstStyle/>
          <a:p>
            <a:r>
              <a:rPr lang="en-ZA" dirty="0"/>
              <a:t>NEW Settings – </a:t>
            </a:r>
          </a:p>
          <a:p>
            <a:pPr marL="342900" indent="-342900">
              <a:buAutoNum type="arabicPeriod"/>
            </a:pPr>
            <a:r>
              <a:rPr lang="en-ZA" dirty="0"/>
              <a:t>Project Status</a:t>
            </a:r>
          </a:p>
          <a:p>
            <a:pPr marL="342900" indent="-342900">
              <a:buAutoNum type="arabicPeriod"/>
            </a:pPr>
            <a:r>
              <a:rPr lang="en-ZA" dirty="0"/>
              <a:t>Funding Source</a:t>
            </a:r>
          </a:p>
          <a:p>
            <a:pPr marL="342900" indent="-342900">
              <a:buAutoNum type="arabicPeriod"/>
            </a:pPr>
            <a:r>
              <a:rPr lang="en-ZA" dirty="0"/>
              <a:t>Funding Type </a:t>
            </a:r>
          </a:p>
        </p:txBody>
      </p:sp>
      <p:pic>
        <p:nvPicPr>
          <p:cNvPr id="6" name="Picture 5">
            <a:extLst>
              <a:ext uri="{FF2B5EF4-FFF2-40B4-BE49-F238E27FC236}">
                <a16:creationId xmlns:a16="http://schemas.microsoft.com/office/drawing/2014/main" id="{25546F2D-00C1-AF3C-A78A-4CAD7A0AC0B7}"/>
              </a:ext>
            </a:extLst>
          </p:cNvPr>
          <p:cNvPicPr>
            <a:picLocks noChangeAspect="1"/>
          </p:cNvPicPr>
          <p:nvPr/>
        </p:nvPicPr>
        <p:blipFill>
          <a:blip r:embed="rId2"/>
          <a:stretch>
            <a:fillRect/>
          </a:stretch>
        </p:blipFill>
        <p:spPr>
          <a:xfrm>
            <a:off x="3065253" y="78636"/>
            <a:ext cx="7544853" cy="6030167"/>
          </a:xfrm>
          <a:prstGeom prst="rect">
            <a:avLst/>
          </a:prstGeom>
        </p:spPr>
      </p:pic>
      <p:pic>
        <p:nvPicPr>
          <p:cNvPr id="8" name="Picture 7">
            <a:extLst>
              <a:ext uri="{FF2B5EF4-FFF2-40B4-BE49-F238E27FC236}">
                <a16:creationId xmlns:a16="http://schemas.microsoft.com/office/drawing/2014/main" id="{ED43565B-0F09-8405-BFCE-855EF00003A0}"/>
              </a:ext>
            </a:extLst>
          </p:cNvPr>
          <p:cNvPicPr>
            <a:picLocks noChangeAspect="1"/>
          </p:cNvPicPr>
          <p:nvPr/>
        </p:nvPicPr>
        <p:blipFill>
          <a:blip r:embed="rId3"/>
          <a:stretch>
            <a:fillRect/>
          </a:stretch>
        </p:blipFill>
        <p:spPr>
          <a:xfrm>
            <a:off x="6879105" y="5418803"/>
            <a:ext cx="1475186" cy="751004"/>
          </a:xfrm>
          <a:prstGeom prst="rect">
            <a:avLst/>
          </a:prstGeom>
        </p:spPr>
      </p:pic>
      <p:sp>
        <p:nvSpPr>
          <p:cNvPr id="9" name="Rectangle: Rounded Corners 8">
            <a:extLst>
              <a:ext uri="{FF2B5EF4-FFF2-40B4-BE49-F238E27FC236}">
                <a16:creationId xmlns:a16="http://schemas.microsoft.com/office/drawing/2014/main" id="{7B56343A-D143-5C4F-2BCD-EC270DC4AC17}"/>
              </a:ext>
            </a:extLst>
          </p:cNvPr>
          <p:cNvSpPr/>
          <p:nvPr/>
        </p:nvSpPr>
        <p:spPr>
          <a:xfrm>
            <a:off x="6729846" y="5364698"/>
            <a:ext cx="1624445" cy="859213"/>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93009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81A8D-F997-14CE-E6C5-7E6B59C2C22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E010365-F1A0-60E4-DA76-369B36C88F42}"/>
              </a:ext>
            </a:extLst>
          </p:cNvPr>
          <p:cNvSpPr txBox="1"/>
          <p:nvPr/>
        </p:nvSpPr>
        <p:spPr>
          <a:xfrm>
            <a:off x="274826" y="528320"/>
            <a:ext cx="11449814" cy="369332"/>
          </a:xfrm>
          <a:prstGeom prst="rect">
            <a:avLst/>
          </a:prstGeom>
          <a:noFill/>
        </p:spPr>
        <p:txBody>
          <a:bodyPr wrap="square" rtlCol="0">
            <a:spAutoFit/>
          </a:bodyPr>
          <a:lstStyle/>
          <a:p>
            <a:r>
              <a:rPr lang="en-ZA" dirty="0"/>
              <a:t>NEW Settings – Project Status</a:t>
            </a:r>
          </a:p>
        </p:txBody>
      </p:sp>
      <p:pic>
        <p:nvPicPr>
          <p:cNvPr id="3" name="Picture 2">
            <a:extLst>
              <a:ext uri="{FF2B5EF4-FFF2-40B4-BE49-F238E27FC236}">
                <a16:creationId xmlns:a16="http://schemas.microsoft.com/office/drawing/2014/main" id="{AC84729C-A683-9F9F-E13A-F50C91B7C880}"/>
              </a:ext>
            </a:extLst>
          </p:cNvPr>
          <p:cNvPicPr>
            <a:picLocks noChangeAspect="1"/>
          </p:cNvPicPr>
          <p:nvPr/>
        </p:nvPicPr>
        <p:blipFill>
          <a:blip r:embed="rId2"/>
          <a:stretch>
            <a:fillRect/>
          </a:stretch>
        </p:blipFill>
        <p:spPr>
          <a:xfrm>
            <a:off x="0" y="897652"/>
            <a:ext cx="12192000" cy="3114692"/>
          </a:xfrm>
          <a:prstGeom prst="rect">
            <a:avLst/>
          </a:prstGeom>
        </p:spPr>
      </p:pic>
      <p:pic>
        <p:nvPicPr>
          <p:cNvPr id="6" name="Picture 5">
            <a:extLst>
              <a:ext uri="{FF2B5EF4-FFF2-40B4-BE49-F238E27FC236}">
                <a16:creationId xmlns:a16="http://schemas.microsoft.com/office/drawing/2014/main" id="{ECCFE7DC-7EA1-0625-08BF-62F2513EAAF0}"/>
              </a:ext>
            </a:extLst>
          </p:cNvPr>
          <p:cNvPicPr>
            <a:picLocks noChangeAspect="1"/>
          </p:cNvPicPr>
          <p:nvPr/>
        </p:nvPicPr>
        <p:blipFill>
          <a:blip r:embed="rId3"/>
          <a:stretch>
            <a:fillRect/>
          </a:stretch>
        </p:blipFill>
        <p:spPr>
          <a:xfrm>
            <a:off x="138510" y="1760510"/>
            <a:ext cx="3400900" cy="390580"/>
          </a:xfrm>
          <a:prstGeom prst="rect">
            <a:avLst/>
          </a:prstGeom>
        </p:spPr>
      </p:pic>
      <p:sp>
        <p:nvSpPr>
          <p:cNvPr id="7" name="TextBox 6">
            <a:extLst>
              <a:ext uri="{FF2B5EF4-FFF2-40B4-BE49-F238E27FC236}">
                <a16:creationId xmlns:a16="http://schemas.microsoft.com/office/drawing/2014/main" id="{F4F3EC1A-59A1-AA65-E936-933719323EE9}"/>
              </a:ext>
            </a:extLst>
          </p:cNvPr>
          <p:cNvSpPr txBox="1"/>
          <p:nvPr/>
        </p:nvSpPr>
        <p:spPr>
          <a:xfrm>
            <a:off x="274826" y="1843313"/>
            <a:ext cx="2631440" cy="307777"/>
          </a:xfrm>
          <a:prstGeom prst="rect">
            <a:avLst/>
          </a:prstGeom>
          <a:noFill/>
        </p:spPr>
        <p:txBody>
          <a:bodyPr wrap="square" rtlCol="0">
            <a:spAutoFit/>
          </a:bodyPr>
          <a:lstStyle/>
          <a:p>
            <a:r>
              <a:rPr lang="en-ZA" sz="1400" dirty="0"/>
              <a:t>Project Status</a:t>
            </a:r>
          </a:p>
        </p:txBody>
      </p:sp>
      <p:pic>
        <p:nvPicPr>
          <p:cNvPr id="9" name="Picture 8">
            <a:extLst>
              <a:ext uri="{FF2B5EF4-FFF2-40B4-BE49-F238E27FC236}">
                <a16:creationId xmlns:a16="http://schemas.microsoft.com/office/drawing/2014/main" id="{4FD884A4-D881-34A7-1857-DD99F6362889}"/>
              </a:ext>
            </a:extLst>
          </p:cNvPr>
          <p:cNvPicPr>
            <a:picLocks noChangeAspect="1"/>
          </p:cNvPicPr>
          <p:nvPr/>
        </p:nvPicPr>
        <p:blipFill>
          <a:blip r:embed="rId4"/>
          <a:stretch>
            <a:fillRect/>
          </a:stretch>
        </p:blipFill>
        <p:spPr>
          <a:xfrm>
            <a:off x="416770" y="2301109"/>
            <a:ext cx="2844379" cy="362173"/>
          </a:xfrm>
          <a:prstGeom prst="rect">
            <a:avLst/>
          </a:prstGeom>
        </p:spPr>
      </p:pic>
      <p:pic>
        <p:nvPicPr>
          <p:cNvPr id="12" name="Picture 11">
            <a:extLst>
              <a:ext uri="{FF2B5EF4-FFF2-40B4-BE49-F238E27FC236}">
                <a16:creationId xmlns:a16="http://schemas.microsoft.com/office/drawing/2014/main" id="{5854F54C-838A-7DDD-9E2A-6417DFFB6C40}"/>
              </a:ext>
            </a:extLst>
          </p:cNvPr>
          <p:cNvPicPr>
            <a:picLocks noChangeAspect="1"/>
          </p:cNvPicPr>
          <p:nvPr/>
        </p:nvPicPr>
        <p:blipFill>
          <a:blip r:embed="rId4"/>
          <a:stretch>
            <a:fillRect/>
          </a:stretch>
        </p:blipFill>
        <p:spPr>
          <a:xfrm>
            <a:off x="5649466" y="2309469"/>
            <a:ext cx="2844379" cy="362173"/>
          </a:xfrm>
          <a:prstGeom prst="rect">
            <a:avLst/>
          </a:prstGeom>
        </p:spPr>
      </p:pic>
      <p:sp>
        <p:nvSpPr>
          <p:cNvPr id="13" name="TextBox 12">
            <a:extLst>
              <a:ext uri="{FF2B5EF4-FFF2-40B4-BE49-F238E27FC236}">
                <a16:creationId xmlns:a16="http://schemas.microsoft.com/office/drawing/2014/main" id="{1DC31D6C-1ABF-5739-08A6-35F27F86AAC7}"/>
              </a:ext>
            </a:extLst>
          </p:cNvPr>
          <p:cNvSpPr txBox="1"/>
          <p:nvPr/>
        </p:nvSpPr>
        <p:spPr>
          <a:xfrm>
            <a:off x="335786" y="2334738"/>
            <a:ext cx="2509520" cy="307777"/>
          </a:xfrm>
          <a:prstGeom prst="rect">
            <a:avLst/>
          </a:prstGeom>
          <a:noFill/>
        </p:spPr>
        <p:txBody>
          <a:bodyPr wrap="square" rtlCol="0">
            <a:spAutoFit/>
          </a:bodyPr>
          <a:lstStyle/>
          <a:p>
            <a:r>
              <a:rPr lang="en-ZA" sz="1400" dirty="0">
                <a:solidFill>
                  <a:schemeClr val="bg1"/>
                </a:solidFill>
              </a:rPr>
              <a:t>Edit Project Status</a:t>
            </a:r>
          </a:p>
        </p:txBody>
      </p:sp>
      <p:sp>
        <p:nvSpPr>
          <p:cNvPr id="14" name="TextBox 13">
            <a:extLst>
              <a:ext uri="{FF2B5EF4-FFF2-40B4-BE49-F238E27FC236}">
                <a16:creationId xmlns:a16="http://schemas.microsoft.com/office/drawing/2014/main" id="{FD9C0D3A-B914-B7E1-64BD-501E99B36DB1}"/>
              </a:ext>
            </a:extLst>
          </p:cNvPr>
          <p:cNvSpPr txBox="1"/>
          <p:nvPr/>
        </p:nvSpPr>
        <p:spPr>
          <a:xfrm>
            <a:off x="5649466" y="2334738"/>
            <a:ext cx="2509520" cy="307777"/>
          </a:xfrm>
          <a:prstGeom prst="rect">
            <a:avLst/>
          </a:prstGeom>
          <a:noFill/>
        </p:spPr>
        <p:txBody>
          <a:bodyPr wrap="square" rtlCol="0">
            <a:spAutoFit/>
          </a:bodyPr>
          <a:lstStyle/>
          <a:p>
            <a:r>
              <a:rPr lang="en-ZA" sz="1400" dirty="0">
                <a:solidFill>
                  <a:schemeClr val="bg1"/>
                </a:solidFill>
              </a:rPr>
              <a:t>Add Project Status</a:t>
            </a:r>
          </a:p>
        </p:txBody>
      </p:sp>
      <p:pic>
        <p:nvPicPr>
          <p:cNvPr id="16" name="Picture 15">
            <a:extLst>
              <a:ext uri="{FF2B5EF4-FFF2-40B4-BE49-F238E27FC236}">
                <a16:creationId xmlns:a16="http://schemas.microsoft.com/office/drawing/2014/main" id="{25D1370E-48FE-059D-D426-2EE454F96D54}"/>
              </a:ext>
            </a:extLst>
          </p:cNvPr>
          <p:cNvPicPr>
            <a:picLocks noChangeAspect="1"/>
          </p:cNvPicPr>
          <p:nvPr/>
        </p:nvPicPr>
        <p:blipFill>
          <a:blip r:embed="rId5"/>
          <a:stretch>
            <a:fillRect/>
          </a:stretch>
        </p:blipFill>
        <p:spPr>
          <a:xfrm>
            <a:off x="143630" y="2848063"/>
            <a:ext cx="2762636" cy="333422"/>
          </a:xfrm>
          <a:prstGeom prst="rect">
            <a:avLst/>
          </a:prstGeom>
        </p:spPr>
      </p:pic>
      <p:sp>
        <p:nvSpPr>
          <p:cNvPr id="17" name="TextBox 16">
            <a:extLst>
              <a:ext uri="{FF2B5EF4-FFF2-40B4-BE49-F238E27FC236}">
                <a16:creationId xmlns:a16="http://schemas.microsoft.com/office/drawing/2014/main" id="{89563D46-4CDD-B587-8F04-DCAFE2472C13}"/>
              </a:ext>
            </a:extLst>
          </p:cNvPr>
          <p:cNvSpPr txBox="1"/>
          <p:nvPr/>
        </p:nvSpPr>
        <p:spPr>
          <a:xfrm>
            <a:off x="274826" y="2826163"/>
            <a:ext cx="2448560" cy="276999"/>
          </a:xfrm>
          <a:prstGeom prst="rect">
            <a:avLst/>
          </a:prstGeom>
          <a:noFill/>
        </p:spPr>
        <p:txBody>
          <a:bodyPr wrap="square" rtlCol="0">
            <a:spAutoFit/>
          </a:bodyPr>
          <a:lstStyle/>
          <a:p>
            <a:r>
              <a:rPr lang="en-ZA" sz="1200" dirty="0"/>
              <a:t>Project Status</a:t>
            </a:r>
          </a:p>
        </p:txBody>
      </p:sp>
      <p:pic>
        <p:nvPicPr>
          <p:cNvPr id="19" name="Picture 18">
            <a:extLst>
              <a:ext uri="{FF2B5EF4-FFF2-40B4-BE49-F238E27FC236}">
                <a16:creationId xmlns:a16="http://schemas.microsoft.com/office/drawing/2014/main" id="{0B82CC5C-A743-0789-D769-D7A980C4137C}"/>
              </a:ext>
            </a:extLst>
          </p:cNvPr>
          <p:cNvPicPr>
            <a:picLocks noChangeAspect="1"/>
          </p:cNvPicPr>
          <p:nvPr/>
        </p:nvPicPr>
        <p:blipFill>
          <a:blip r:embed="rId6"/>
          <a:stretch>
            <a:fillRect/>
          </a:stretch>
        </p:blipFill>
        <p:spPr>
          <a:xfrm>
            <a:off x="0" y="4381676"/>
            <a:ext cx="12192000" cy="1830259"/>
          </a:xfrm>
          <a:prstGeom prst="rect">
            <a:avLst/>
          </a:prstGeom>
        </p:spPr>
      </p:pic>
      <p:pic>
        <p:nvPicPr>
          <p:cNvPr id="21" name="Picture 20">
            <a:extLst>
              <a:ext uri="{FF2B5EF4-FFF2-40B4-BE49-F238E27FC236}">
                <a16:creationId xmlns:a16="http://schemas.microsoft.com/office/drawing/2014/main" id="{BE6175B5-D62B-986A-1310-04719A869A68}"/>
              </a:ext>
            </a:extLst>
          </p:cNvPr>
          <p:cNvPicPr>
            <a:picLocks noChangeAspect="1"/>
          </p:cNvPicPr>
          <p:nvPr/>
        </p:nvPicPr>
        <p:blipFill>
          <a:blip r:embed="rId7"/>
          <a:stretch>
            <a:fillRect/>
          </a:stretch>
        </p:blipFill>
        <p:spPr>
          <a:xfrm>
            <a:off x="224246" y="4437556"/>
            <a:ext cx="3229426" cy="390580"/>
          </a:xfrm>
          <a:prstGeom prst="rect">
            <a:avLst/>
          </a:prstGeom>
        </p:spPr>
      </p:pic>
      <p:sp>
        <p:nvSpPr>
          <p:cNvPr id="22" name="TextBox 21">
            <a:extLst>
              <a:ext uri="{FF2B5EF4-FFF2-40B4-BE49-F238E27FC236}">
                <a16:creationId xmlns:a16="http://schemas.microsoft.com/office/drawing/2014/main" id="{FE5C5F68-266E-9ADE-D44C-DCF144AFEFEB}"/>
              </a:ext>
            </a:extLst>
          </p:cNvPr>
          <p:cNvSpPr txBox="1"/>
          <p:nvPr/>
        </p:nvSpPr>
        <p:spPr>
          <a:xfrm>
            <a:off x="224026" y="4551137"/>
            <a:ext cx="2621280" cy="307777"/>
          </a:xfrm>
          <a:prstGeom prst="rect">
            <a:avLst/>
          </a:prstGeom>
          <a:noFill/>
        </p:spPr>
        <p:txBody>
          <a:bodyPr wrap="square" rtlCol="0">
            <a:spAutoFit/>
          </a:bodyPr>
          <a:lstStyle/>
          <a:p>
            <a:r>
              <a:rPr lang="en-ZA" sz="1400" dirty="0"/>
              <a:t>Project Status - Add</a:t>
            </a:r>
          </a:p>
        </p:txBody>
      </p:sp>
      <p:sp>
        <p:nvSpPr>
          <p:cNvPr id="23" name="TextBox 22">
            <a:extLst>
              <a:ext uri="{FF2B5EF4-FFF2-40B4-BE49-F238E27FC236}">
                <a16:creationId xmlns:a16="http://schemas.microsoft.com/office/drawing/2014/main" id="{62E95830-A92E-60C9-3A92-7D6E5ECB97DF}"/>
              </a:ext>
            </a:extLst>
          </p:cNvPr>
          <p:cNvSpPr txBox="1"/>
          <p:nvPr/>
        </p:nvSpPr>
        <p:spPr>
          <a:xfrm>
            <a:off x="3597147" y="5144405"/>
            <a:ext cx="1411734" cy="307777"/>
          </a:xfrm>
          <a:prstGeom prst="rect">
            <a:avLst/>
          </a:prstGeom>
          <a:solidFill>
            <a:schemeClr val="bg1"/>
          </a:solidFill>
        </p:spPr>
        <p:txBody>
          <a:bodyPr wrap="square" rtlCol="0">
            <a:spAutoFit/>
          </a:bodyPr>
          <a:lstStyle/>
          <a:p>
            <a:r>
              <a:rPr lang="en-ZA" sz="1400" dirty="0"/>
              <a:t>Project Status </a:t>
            </a:r>
          </a:p>
        </p:txBody>
      </p:sp>
    </p:spTree>
    <p:extLst>
      <p:ext uri="{BB962C8B-B14F-4D97-AF65-F5344CB8AC3E}">
        <p14:creationId xmlns:p14="http://schemas.microsoft.com/office/powerpoint/2010/main" val="21340841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B61E1-7545-77E9-0240-E2B9CDFFB1D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C2BA54D-D4B6-4FC2-B8FC-57D934629102}"/>
              </a:ext>
            </a:extLst>
          </p:cNvPr>
          <p:cNvSpPr txBox="1"/>
          <p:nvPr/>
        </p:nvSpPr>
        <p:spPr>
          <a:xfrm>
            <a:off x="274826" y="528320"/>
            <a:ext cx="11449814" cy="369332"/>
          </a:xfrm>
          <a:prstGeom prst="rect">
            <a:avLst/>
          </a:prstGeom>
          <a:noFill/>
        </p:spPr>
        <p:txBody>
          <a:bodyPr wrap="square" rtlCol="0">
            <a:spAutoFit/>
          </a:bodyPr>
          <a:lstStyle/>
          <a:p>
            <a:r>
              <a:rPr lang="en-ZA" dirty="0"/>
              <a:t>NEW Settings – Funding Source</a:t>
            </a:r>
          </a:p>
        </p:txBody>
      </p:sp>
      <p:pic>
        <p:nvPicPr>
          <p:cNvPr id="3" name="Picture 2">
            <a:extLst>
              <a:ext uri="{FF2B5EF4-FFF2-40B4-BE49-F238E27FC236}">
                <a16:creationId xmlns:a16="http://schemas.microsoft.com/office/drawing/2014/main" id="{6F7D3925-06C6-151C-9320-2B6442708C57}"/>
              </a:ext>
            </a:extLst>
          </p:cNvPr>
          <p:cNvPicPr>
            <a:picLocks noChangeAspect="1"/>
          </p:cNvPicPr>
          <p:nvPr/>
        </p:nvPicPr>
        <p:blipFill>
          <a:blip r:embed="rId2"/>
          <a:stretch>
            <a:fillRect/>
          </a:stretch>
        </p:blipFill>
        <p:spPr>
          <a:xfrm>
            <a:off x="0" y="897652"/>
            <a:ext cx="12192000" cy="3114692"/>
          </a:xfrm>
          <a:prstGeom prst="rect">
            <a:avLst/>
          </a:prstGeom>
        </p:spPr>
      </p:pic>
      <p:pic>
        <p:nvPicPr>
          <p:cNvPr id="6" name="Picture 5">
            <a:extLst>
              <a:ext uri="{FF2B5EF4-FFF2-40B4-BE49-F238E27FC236}">
                <a16:creationId xmlns:a16="http://schemas.microsoft.com/office/drawing/2014/main" id="{1ABB4042-DE62-6DE3-A000-FF5020EF2C60}"/>
              </a:ext>
            </a:extLst>
          </p:cNvPr>
          <p:cNvPicPr>
            <a:picLocks noChangeAspect="1"/>
          </p:cNvPicPr>
          <p:nvPr/>
        </p:nvPicPr>
        <p:blipFill>
          <a:blip r:embed="rId3"/>
          <a:stretch>
            <a:fillRect/>
          </a:stretch>
        </p:blipFill>
        <p:spPr>
          <a:xfrm>
            <a:off x="274826" y="1760510"/>
            <a:ext cx="3400900" cy="390580"/>
          </a:xfrm>
          <a:prstGeom prst="rect">
            <a:avLst/>
          </a:prstGeom>
        </p:spPr>
      </p:pic>
      <p:sp>
        <p:nvSpPr>
          <p:cNvPr id="7" name="TextBox 6">
            <a:extLst>
              <a:ext uri="{FF2B5EF4-FFF2-40B4-BE49-F238E27FC236}">
                <a16:creationId xmlns:a16="http://schemas.microsoft.com/office/drawing/2014/main" id="{23BB92BC-6B13-0246-3E8F-11765115DE61}"/>
              </a:ext>
            </a:extLst>
          </p:cNvPr>
          <p:cNvSpPr txBox="1"/>
          <p:nvPr/>
        </p:nvSpPr>
        <p:spPr>
          <a:xfrm>
            <a:off x="274826" y="1843313"/>
            <a:ext cx="2631440" cy="307777"/>
          </a:xfrm>
          <a:prstGeom prst="rect">
            <a:avLst/>
          </a:prstGeom>
          <a:noFill/>
        </p:spPr>
        <p:txBody>
          <a:bodyPr wrap="square" rtlCol="0">
            <a:spAutoFit/>
          </a:bodyPr>
          <a:lstStyle/>
          <a:p>
            <a:r>
              <a:rPr lang="en-ZA" sz="1400" dirty="0"/>
              <a:t>Funding Source</a:t>
            </a:r>
          </a:p>
        </p:txBody>
      </p:sp>
      <p:pic>
        <p:nvPicPr>
          <p:cNvPr id="8" name="Picture 7">
            <a:extLst>
              <a:ext uri="{FF2B5EF4-FFF2-40B4-BE49-F238E27FC236}">
                <a16:creationId xmlns:a16="http://schemas.microsoft.com/office/drawing/2014/main" id="{AE2E637F-1D44-E940-958A-82A4DF906A52}"/>
              </a:ext>
            </a:extLst>
          </p:cNvPr>
          <p:cNvPicPr>
            <a:picLocks noChangeAspect="1"/>
          </p:cNvPicPr>
          <p:nvPr/>
        </p:nvPicPr>
        <p:blipFill>
          <a:blip r:embed="rId4"/>
          <a:stretch>
            <a:fillRect/>
          </a:stretch>
        </p:blipFill>
        <p:spPr>
          <a:xfrm>
            <a:off x="355810" y="2307539"/>
            <a:ext cx="2844379" cy="362173"/>
          </a:xfrm>
          <a:prstGeom prst="rect">
            <a:avLst/>
          </a:prstGeom>
        </p:spPr>
      </p:pic>
      <p:pic>
        <p:nvPicPr>
          <p:cNvPr id="9" name="Picture 8">
            <a:extLst>
              <a:ext uri="{FF2B5EF4-FFF2-40B4-BE49-F238E27FC236}">
                <a16:creationId xmlns:a16="http://schemas.microsoft.com/office/drawing/2014/main" id="{864D0A11-9AEC-5EB4-7D00-3F1DDD02FEE3}"/>
              </a:ext>
            </a:extLst>
          </p:cNvPr>
          <p:cNvPicPr>
            <a:picLocks noChangeAspect="1"/>
          </p:cNvPicPr>
          <p:nvPr/>
        </p:nvPicPr>
        <p:blipFill>
          <a:blip r:embed="rId4"/>
          <a:stretch>
            <a:fillRect/>
          </a:stretch>
        </p:blipFill>
        <p:spPr>
          <a:xfrm>
            <a:off x="5567890" y="2307538"/>
            <a:ext cx="2844379" cy="362173"/>
          </a:xfrm>
          <a:prstGeom prst="rect">
            <a:avLst/>
          </a:prstGeom>
        </p:spPr>
      </p:pic>
      <p:sp>
        <p:nvSpPr>
          <p:cNvPr id="11" name="TextBox 10">
            <a:extLst>
              <a:ext uri="{FF2B5EF4-FFF2-40B4-BE49-F238E27FC236}">
                <a16:creationId xmlns:a16="http://schemas.microsoft.com/office/drawing/2014/main" id="{5770FC9F-46FF-4F3D-36EE-E13F88CB153B}"/>
              </a:ext>
            </a:extLst>
          </p:cNvPr>
          <p:cNvSpPr txBox="1"/>
          <p:nvPr/>
        </p:nvSpPr>
        <p:spPr>
          <a:xfrm>
            <a:off x="5693204" y="2332676"/>
            <a:ext cx="2509520" cy="307777"/>
          </a:xfrm>
          <a:prstGeom prst="rect">
            <a:avLst/>
          </a:prstGeom>
          <a:noFill/>
        </p:spPr>
        <p:txBody>
          <a:bodyPr wrap="square" rtlCol="0">
            <a:spAutoFit/>
          </a:bodyPr>
          <a:lstStyle/>
          <a:p>
            <a:r>
              <a:rPr lang="en-ZA" sz="1400" dirty="0">
                <a:solidFill>
                  <a:schemeClr val="bg1"/>
                </a:solidFill>
              </a:rPr>
              <a:t>Add Funding Source</a:t>
            </a:r>
          </a:p>
        </p:txBody>
      </p:sp>
      <p:sp>
        <p:nvSpPr>
          <p:cNvPr id="10" name="TextBox 9">
            <a:extLst>
              <a:ext uri="{FF2B5EF4-FFF2-40B4-BE49-F238E27FC236}">
                <a16:creationId xmlns:a16="http://schemas.microsoft.com/office/drawing/2014/main" id="{E327BDD5-C11F-9A01-4B88-184A71A7728B}"/>
              </a:ext>
            </a:extLst>
          </p:cNvPr>
          <p:cNvSpPr txBox="1"/>
          <p:nvPr/>
        </p:nvSpPr>
        <p:spPr>
          <a:xfrm>
            <a:off x="396746" y="2346456"/>
            <a:ext cx="2509520" cy="307777"/>
          </a:xfrm>
          <a:prstGeom prst="rect">
            <a:avLst/>
          </a:prstGeom>
          <a:noFill/>
        </p:spPr>
        <p:txBody>
          <a:bodyPr wrap="square" rtlCol="0">
            <a:spAutoFit/>
          </a:bodyPr>
          <a:lstStyle/>
          <a:p>
            <a:r>
              <a:rPr lang="en-ZA" sz="1400" dirty="0">
                <a:solidFill>
                  <a:schemeClr val="bg1"/>
                </a:solidFill>
              </a:rPr>
              <a:t>Edit Funding Source</a:t>
            </a:r>
          </a:p>
        </p:txBody>
      </p:sp>
      <p:pic>
        <p:nvPicPr>
          <p:cNvPr id="13" name="Picture 12">
            <a:extLst>
              <a:ext uri="{FF2B5EF4-FFF2-40B4-BE49-F238E27FC236}">
                <a16:creationId xmlns:a16="http://schemas.microsoft.com/office/drawing/2014/main" id="{1BC7F494-65B6-9B8B-07F3-4EE9BA2A9C5D}"/>
              </a:ext>
            </a:extLst>
          </p:cNvPr>
          <p:cNvPicPr>
            <a:picLocks noChangeAspect="1"/>
          </p:cNvPicPr>
          <p:nvPr/>
        </p:nvPicPr>
        <p:blipFill>
          <a:blip r:embed="rId5"/>
          <a:stretch>
            <a:fillRect/>
          </a:stretch>
        </p:blipFill>
        <p:spPr>
          <a:xfrm>
            <a:off x="274826" y="2826161"/>
            <a:ext cx="2762636" cy="333422"/>
          </a:xfrm>
          <a:prstGeom prst="rect">
            <a:avLst/>
          </a:prstGeom>
        </p:spPr>
      </p:pic>
      <p:sp>
        <p:nvSpPr>
          <p:cNvPr id="14" name="TextBox 13">
            <a:extLst>
              <a:ext uri="{FF2B5EF4-FFF2-40B4-BE49-F238E27FC236}">
                <a16:creationId xmlns:a16="http://schemas.microsoft.com/office/drawing/2014/main" id="{0F37744E-48E9-BD86-AE2D-4993AA24578C}"/>
              </a:ext>
            </a:extLst>
          </p:cNvPr>
          <p:cNvSpPr txBox="1"/>
          <p:nvPr/>
        </p:nvSpPr>
        <p:spPr>
          <a:xfrm>
            <a:off x="274826" y="2826163"/>
            <a:ext cx="2448560" cy="276999"/>
          </a:xfrm>
          <a:prstGeom prst="rect">
            <a:avLst/>
          </a:prstGeom>
          <a:noFill/>
        </p:spPr>
        <p:txBody>
          <a:bodyPr wrap="square" rtlCol="0">
            <a:spAutoFit/>
          </a:bodyPr>
          <a:lstStyle/>
          <a:p>
            <a:r>
              <a:rPr lang="en-ZA" sz="1200" dirty="0"/>
              <a:t>Funding Source</a:t>
            </a:r>
          </a:p>
        </p:txBody>
      </p:sp>
      <p:pic>
        <p:nvPicPr>
          <p:cNvPr id="16" name="Picture 15">
            <a:extLst>
              <a:ext uri="{FF2B5EF4-FFF2-40B4-BE49-F238E27FC236}">
                <a16:creationId xmlns:a16="http://schemas.microsoft.com/office/drawing/2014/main" id="{35F35882-A2CC-D82B-81FA-3F4198A137C7}"/>
              </a:ext>
            </a:extLst>
          </p:cNvPr>
          <p:cNvPicPr>
            <a:picLocks noChangeAspect="1"/>
          </p:cNvPicPr>
          <p:nvPr/>
        </p:nvPicPr>
        <p:blipFill>
          <a:blip r:embed="rId6"/>
          <a:stretch>
            <a:fillRect/>
          </a:stretch>
        </p:blipFill>
        <p:spPr>
          <a:xfrm>
            <a:off x="0" y="4499421"/>
            <a:ext cx="12192000" cy="1830259"/>
          </a:xfrm>
          <a:prstGeom prst="rect">
            <a:avLst/>
          </a:prstGeom>
        </p:spPr>
      </p:pic>
      <p:sp>
        <p:nvSpPr>
          <p:cNvPr id="17" name="TextBox 16">
            <a:extLst>
              <a:ext uri="{FF2B5EF4-FFF2-40B4-BE49-F238E27FC236}">
                <a16:creationId xmlns:a16="http://schemas.microsoft.com/office/drawing/2014/main" id="{20617C23-3B3A-471E-8B34-6EC7F8FA2312}"/>
              </a:ext>
            </a:extLst>
          </p:cNvPr>
          <p:cNvSpPr txBox="1"/>
          <p:nvPr/>
        </p:nvSpPr>
        <p:spPr>
          <a:xfrm>
            <a:off x="188466" y="4687415"/>
            <a:ext cx="2621280" cy="307777"/>
          </a:xfrm>
          <a:prstGeom prst="rect">
            <a:avLst/>
          </a:prstGeom>
          <a:solidFill>
            <a:schemeClr val="bg1"/>
          </a:solidFill>
        </p:spPr>
        <p:txBody>
          <a:bodyPr wrap="square" rtlCol="0">
            <a:spAutoFit/>
          </a:bodyPr>
          <a:lstStyle/>
          <a:p>
            <a:r>
              <a:rPr lang="en-ZA" sz="1400" dirty="0"/>
              <a:t>Funding Source- Add</a:t>
            </a:r>
          </a:p>
        </p:txBody>
      </p:sp>
      <p:sp>
        <p:nvSpPr>
          <p:cNvPr id="18" name="TextBox 17">
            <a:extLst>
              <a:ext uri="{FF2B5EF4-FFF2-40B4-BE49-F238E27FC236}">
                <a16:creationId xmlns:a16="http://schemas.microsoft.com/office/drawing/2014/main" id="{18D37601-9191-491A-A5E1-1A8A1E6C2776}"/>
              </a:ext>
            </a:extLst>
          </p:cNvPr>
          <p:cNvSpPr txBox="1"/>
          <p:nvPr/>
        </p:nvSpPr>
        <p:spPr>
          <a:xfrm>
            <a:off x="3459986" y="5260661"/>
            <a:ext cx="1548683" cy="307777"/>
          </a:xfrm>
          <a:prstGeom prst="rect">
            <a:avLst/>
          </a:prstGeom>
          <a:solidFill>
            <a:schemeClr val="bg1"/>
          </a:solidFill>
        </p:spPr>
        <p:txBody>
          <a:bodyPr wrap="square" rtlCol="0">
            <a:spAutoFit/>
          </a:bodyPr>
          <a:lstStyle/>
          <a:p>
            <a:r>
              <a:rPr lang="en-ZA" sz="1400" dirty="0"/>
              <a:t>Funding Source</a:t>
            </a:r>
          </a:p>
        </p:txBody>
      </p:sp>
    </p:spTree>
    <p:extLst>
      <p:ext uri="{BB962C8B-B14F-4D97-AF65-F5344CB8AC3E}">
        <p14:creationId xmlns:p14="http://schemas.microsoft.com/office/powerpoint/2010/main" val="36739732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B7BD7-9BD7-746F-9BDD-B5610425DE2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DB65B6D-E280-2573-EED3-3FD36DFD341B}"/>
              </a:ext>
            </a:extLst>
          </p:cNvPr>
          <p:cNvSpPr txBox="1"/>
          <p:nvPr/>
        </p:nvSpPr>
        <p:spPr>
          <a:xfrm>
            <a:off x="274826" y="528320"/>
            <a:ext cx="11449814" cy="369332"/>
          </a:xfrm>
          <a:prstGeom prst="rect">
            <a:avLst/>
          </a:prstGeom>
          <a:noFill/>
        </p:spPr>
        <p:txBody>
          <a:bodyPr wrap="square" rtlCol="0">
            <a:spAutoFit/>
          </a:bodyPr>
          <a:lstStyle/>
          <a:p>
            <a:r>
              <a:rPr lang="en-ZA" dirty="0"/>
              <a:t>NEW Settings – Funding Type</a:t>
            </a:r>
          </a:p>
        </p:txBody>
      </p:sp>
      <p:pic>
        <p:nvPicPr>
          <p:cNvPr id="3" name="Picture 2">
            <a:extLst>
              <a:ext uri="{FF2B5EF4-FFF2-40B4-BE49-F238E27FC236}">
                <a16:creationId xmlns:a16="http://schemas.microsoft.com/office/drawing/2014/main" id="{607BA90D-A0DB-104F-02F6-F5FB6BDB1BFE}"/>
              </a:ext>
            </a:extLst>
          </p:cNvPr>
          <p:cNvPicPr>
            <a:picLocks noChangeAspect="1"/>
          </p:cNvPicPr>
          <p:nvPr/>
        </p:nvPicPr>
        <p:blipFill>
          <a:blip r:embed="rId2"/>
          <a:stretch>
            <a:fillRect/>
          </a:stretch>
        </p:blipFill>
        <p:spPr>
          <a:xfrm>
            <a:off x="0" y="931280"/>
            <a:ext cx="12192000" cy="3114692"/>
          </a:xfrm>
          <a:prstGeom prst="rect">
            <a:avLst/>
          </a:prstGeom>
        </p:spPr>
      </p:pic>
      <p:pic>
        <p:nvPicPr>
          <p:cNvPr id="6" name="Picture 5">
            <a:extLst>
              <a:ext uri="{FF2B5EF4-FFF2-40B4-BE49-F238E27FC236}">
                <a16:creationId xmlns:a16="http://schemas.microsoft.com/office/drawing/2014/main" id="{E6790067-C39D-C122-3318-DA31B4E8CD94}"/>
              </a:ext>
            </a:extLst>
          </p:cNvPr>
          <p:cNvPicPr>
            <a:picLocks noChangeAspect="1"/>
          </p:cNvPicPr>
          <p:nvPr/>
        </p:nvPicPr>
        <p:blipFill>
          <a:blip r:embed="rId3"/>
          <a:stretch>
            <a:fillRect/>
          </a:stretch>
        </p:blipFill>
        <p:spPr>
          <a:xfrm>
            <a:off x="274826" y="1760510"/>
            <a:ext cx="3400900" cy="390580"/>
          </a:xfrm>
          <a:prstGeom prst="rect">
            <a:avLst/>
          </a:prstGeom>
        </p:spPr>
      </p:pic>
      <p:sp>
        <p:nvSpPr>
          <p:cNvPr id="7" name="TextBox 6">
            <a:extLst>
              <a:ext uri="{FF2B5EF4-FFF2-40B4-BE49-F238E27FC236}">
                <a16:creationId xmlns:a16="http://schemas.microsoft.com/office/drawing/2014/main" id="{61ED4934-8B32-0834-B76F-D092486F9A80}"/>
              </a:ext>
            </a:extLst>
          </p:cNvPr>
          <p:cNvSpPr txBox="1"/>
          <p:nvPr/>
        </p:nvSpPr>
        <p:spPr>
          <a:xfrm>
            <a:off x="274826" y="1843313"/>
            <a:ext cx="2631440" cy="307777"/>
          </a:xfrm>
          <a:prstGeom prst="rect">
            <a:avLst/>
          </a:prstGeom>
          <a:noFill/>
        </p:spPr>
        <p:txBody>
          <a:bodyPr wrap="square" rtlCol="0">
            <a:spAutoFit/>
          </a:bodyPr>
          <a:lstStyle/>
          <a:p>
            <a:r>
              <a:rPr lang="en-ZA" sz="1400" dirty="0"/>
              <a:t>Funding Type</a:t>
            </a:r>
          </a:p>
        </p:txBody>
      </p:sp>
      <p:pic>
        <p:nvPicPr>
          <p:cNvPr id="10" name="Picture 9">
            <a:extLst>
              <a:ext uri="{FF2B5EF4-FFF2-40B4-BE49-F238E27FC236}">
                <a16:creationId xmlns:a16="http://schemas.microsoft.com/office/drawing/2014/main" id="{2D5A2607-F91D-650B-FC77-10594B55905B}"/>
              </a:ext>
            </a:extLst>
          </p:cNvPr>
          <p:cNvPicPr>
            <a:picLocks noChangeAspect="1"/>
          </p:cNvPicPr>
          <p:nvPr/>
        </p:nvPicPr>
        <p:blipFill>
          <a:blip r:embed="rId4"/>
          <a:stretch>
            <a:fillRect/>
          </a:stretch>
        </p:blipFill>
        <p:spPr>
          <a:xfrm>
            <a:off x="5598370" y="2342836"/>
            <a:ext cx="2844379" cy="362173"/>
          </a:xfrm>
          <a:prstGeom prst="rect">
            <a:avLst/>
          </a:prstGeom>
        </p:spPr>
      </p:pic>
      <p:pic>
        <p:nvPicPr>
          <p:cNvPr id="11" name="Picture 10">
            <a:extLst>
              <a:ext uri="{FF2B5EF4-FFF2-40B4-BE49-F238E27FC236}">
                <a16:creationId xmlns:a16="http://schemas.microsoft.com/office/drawing/2014/main" id="{99328065-207D-0E39-7507-354E67BB6559}"/>
              </a:ext>
            </a:extLst>
          </p:cNvPr>
          <p:cNvPicPr>
            <a:picLocks noChangeAspect="1"/>
          </p:cNvPicPr>
          <p:nvPr/>
        </p:nvPicPr>
        <p:blipFill>
          <a:blip r:embed="rId4"/>
          <a:stretch>
            <a:fillRect/>
          </a:stretch>
        </p:blipFill>
        <p:spPr>
          <a:xfrm>
            <a:off x="322917" y="2334738"/>
            <a:ext cx="2844379" cy="362173"/>
          </a:xfrm>
          <a:prstGeom prst="rect">
            <a:avLst/>
          </a:prstGeom>
        </p:spPr>
      </p:pic>
      <p:sp>
        <p:nvSpPr>
          <p:cNvPr id="9" name="TextBox 8">
            <a:extLst>
              <a:ext uri="{FF2B5EF4-FFF2-40B4-BE49-F238E27FC236}">
                <a16:creationId xmlns:a16="http://schemas.microsoft.com/office/drawing/2014/main" id="{54B5B9FC-9040-D093-2F12-6590E4DE80A0}"/>
              </a:ext>
            </a:extLst>
          </p:cNvPr>
          <p:cNvSpPr txBox="1"/>
          <p:nvPr/>
        </p:nvSpPr>
        <p:spPr>
          <a:xfrm>
            <a:off x="5598370" y="2342836"/>
            <a:ext cx="2509520" cy="307777"/>
          </a:xfrm>
          <a:prstGeom prst="rect">
            <a:avLst/>
          </a:prstGeom>
          <a:noFill/>
        </p:spPr>
        <p:txBody>
          <a:bodyPr wrap="square" rtlCol="0">
            <a:spAutoFit/>
          </a:bodyPr>
          <a:lstStyle/>
          <a:p>
            <a:r>
              <a:rPr lang="en-ZA" sz="1400" dirty="0">
                <a:solidFill>
                  <a:schemeClr val="bg1"/>
                </a:solidFill>
              </a:rPr>
              <a:t>Add Funding Type</a:t>
            </a:r>
          </a:p>
        </p:txBody>
      </p:sp>
      <p:sp>
        <p:nvSpPr>
          <p:cNvPr id="8" name="TextBox 7">
            <a:extLst>
              <a:ext uri="{FF2B5EF4-FFF2-40B4-BE49-F238E27FC236}">
                <a16:creationId xmlns:a16="http://schemas.microsoft.com/office/drawing/2014/main" id="{71166FAD-E08B-CA94-758E-31249634EBF3}"/>
              </a:ext>
            </a:extLst>
          </p:cNvPr>
          <p:cNvSpPr txBox="1"/>
          <p:nvPr/>
        </p:nvSpPr>
        <p:spPr>
          <a:xfrm>
            <a:off x="335786" y="2363955"/>
            <a:ext cx="2509520" cy="307777"/>
          </a:xfrm>
          <a:prstGeom prst="rect">
            <a:avLst/>
          </a:prstGeom>
          <a:noFill/>
        </p:spPr>
        <p:txBody>
          <a:bodyPr wrap="square" rtlCol="0">
            <a:spAutoFit/>
          </a:bodyPr>
          <a:lstStyle/>
          <a:p>
            <a:r>
              <a:rPr lang="en-ZA" sz="1400" dirty="0">
                <a:solidFill>
                  <a:schemeClr val="bg1"/>
                </a:solidFill>
              </a:rPr>
              <a:t>Edit Funding Type</a:t>
            </a:r>
          </a:p>
        </p:txBody>
      </p:sp>
      <p:pic>
        <p:nvPicPr>
          <p:cNvPr id="13" name="Picture 12">
            <a:extLst>
              <a:ext uri="{FF2B5EF4-FFF2-40B4-BE49-F238E27FC236}">
                <a16:creationId xmlns:a16="http://schemas.microsoft.com/office/drawing/2014/main" id="{B46D7160-2880-BC74-6897-83EDA43951B2}"/>
              </a:ext>
            </a:extLst>
          </p:cNvPr>
          <p:cNvPicPr>
            <a:picLocks noChangeAspect="1"/>
          </p:cNvPicPr>
          <p:nvPr/>
        </p:nvPicPr>
        <p:blipFill>
          <a:blip r:embed="rId5"/>
          <a:stretch>
            <a:fillRect/>
          </a:stretch>
        </p:blipFill>
        <p:spPr>
          <a:xfrm>
            <a:off x="143630" y="2880559"/>
            <a:ext cx="2762636" cy="333422"/>
          </a:xfrm>
          <a:prstGeom prst="rect">
            <a:avLst/>
          </a:prstGeom>
        </p:spPr>
      </p:pic>
      <p:sp>
        <p:nvSpPr>
          <p:cNvPr id="14" name="TextBox 13">
            <a:extLst>
              <a:ext uri="{FF2B5EF4-FFF2-40B4-BE49-F238E27FC236}">
                <a16:creationId xmlns:a16="http://schemas.microsoft.com/office/drawing/2014/main" id="{A4FFD6EB-1848-AEDC-15B2-BADBB7DAA316}"/>
              </a:ext>
            </a:extLst>
          </p:cNvPr>
          <p:cNvSpPr txBox="1"/>
          <p:nvPr/>
        </p:nvSpPr>
        <p:spPr>
          <a:xfrm>
            <a:off x="274826" y="2826163"/>
            <a:ext cx="2448560" cy="276999"/>
          </a:xfrm>
          <a:prstGeom prst="rect">
            <a:avLst/>
          </a:prstGeom>
          <a:noFill/>
        </p:spPr>
        <p:txBody>
          <a:bodyPr wrap="square" rtlCol="0">
            <a:spAutoFit/>
          </a:bodyPr>
          <a:lstStyle/>
          <a:p>
            <a:r>
              <a:rPr lang="en-ZA" sz="1200" dirty="0"/>
              <a:t>Funding Type</a:t>
            </a:r>
          </a:p>
        </p:txBody>
      </p:sp>
      <p:pic>
        <p:nvPicPr>
          <p:cNvPr id="16" name="Picture 15">
            <a:extLst>
              <a:ext uri="{FF2B5EF4-FFF2-40B4-BE49-F238E27FC236}">
                <a16:creationId xmlns:a16="http://schemas.microsoft.com/office/drawing/2014/main" id="{A1E15F95-E223-755D-9912-3DF306AAFB8D}"/>
              </a:ext>
            </a:extLst>
          </p:cNvPr>
          <p:cNvPicPr>
            <a:picLocks noChangeAspect="1"/>
          </p:cNvPicPr>
          <p:nvPr/>
        </p:nvPicPr>
        <p:blipFill>
          <a:blip r:embed="rId6"/>
          <a:stretch>
            <a:fillRect/>
          </a:stretch>
        </p:blipFill>
        <p:spPr>
          <a:xfrm>
            <a:off x="0" y="4499421"/>
            <a:ext cx="12192000" cy="1830259"/>
          </a:xfrm>
          <a:prstGeom prst="rect">
            <a:avLst/>
          </a:prstGeom>
        </p:spPr>
      </p:pic>
      <p:sp>
        <p:nvSpPr>
          <p:cNvPr id="17" name="TextBox 16">
            <a:extLst>
              <a:ext uri="{FF2B5EF4-FFF2-40B4-BE49-F238E27FC236}">
                <a16:creationId xmlns:a16="http://schemas.microsoft.com/office/drawing/2014/main" id="{F25DAAA1-9476-799F-AD0E-0F8276C98B8A}"/>
              </a:ext>
            </a:extLst>
          </p:cNvPr>
          <p:cNvSpPr txBox="1"/>
          <p:nvPr/>
        </p:nvSpPr>
        <p:spPr>
          <a:xfrm>
            <a:off x="224026" y="4551137"/>
            <a:ext cx="2621280" cy="307777"/>
          </a:xfrm>
          <a:prstGeom prst="rect">
            <a:avLst/>
          </a:prstGeom>
          <a:noFill/>
        </p:spPr>
        <p:txBody>
          <a:bodyPr wrap="square" rtlCol="0">
            <a:spAutoFit/>
          </a:bodyPr>
          <a:lstStyle/>
          <a:p>
            <a:r>
              <a:rPr lang="en-ZA" sz="1400" dirty="0"/>
              <a:t>Project Status - Add</a:t>
            </a:r>
          </a:p>
        </p:txBody>
      </p:sp>
      <p:sp>
        <p:nvSpPr>
          <p:cNvPr id="18" name="TextBox 17">
            <a:extLst>
              <a:ext uri="{FF2B5EF4-FFF2-40B4-BE49-F238E27FC236}">
                <a16:creationId xmlns:a16="http://schemas.microsoft.com/office/drawing/2014/main" id="{153265F5-52F7-3316-A41B-9D918F155BAA}"/>
              </a:ext>
            </a:extLst>
          </p:cNvPr>
          <p:cNvSpPr txBox="1"/>
          <p:nvPr/>
        </p:nvSpPr>
        <p:spPr>
          <a:xfrm>
            <a:off x="188466" y="4602853"/>
            <a:ext cx="2621280" cy="307777"/>
          </a:xfrm>
          <a:prstGeom prst="rect">
            <a:avLst/>
          </a:prstGeom>
          <a:solidFill>
            <a:schemeClr val="bg1"/>
          </a:solidFill>
        </p:spPr>
        <p:txBody>
          <a:bodyPr wrap="square" rtlCol="0">
            <a:spAutoFit/>
          </a:bodyPr>
          <a:lstStyle/>
          <a:p>
            <a:r>
              <a:rPr lang="en-ZA" sz="1400" dirty="0"/>
              <a:t>Funding Type - Add</a:t>
            </a:r>
          </a:p>
        </p:txBody>
      </p:sp>
      <p:sp>
        <p:nvSpPr>
          <p:cNvPr id="19" name="TextBox 18">
            <a:extLst>
              <a:ext uri="{FF2B5EF4-FFF2-40B4-BE49-F238E27FC236}">
                <a16:creationId xmlns:a16="http://schemas.microsoft.com/office/drawing/2014/main" id="{1DFD283C-6042-9405-AA6C-E29EE82C506A}"/>
              </a:ext>
            </a:extLst>
          </p:cNvPr>
          <p:cNvSpPr txBox="1"/>
          <p:nvPr/>
        </p:nvSpPr>
        <p:spPr>
          <a:xfrm>
            <a:off x="3581906" y="5260661"/>
            <a:ext cx="1416814" cy="307777"/>
          </a:xfrm>
          <a:prstGeom prst="rect">
            <a:avLst/>
          </a:prstGeom>
          <a:solidFill>
            <a:schemeClr val="bg1"/>
          </a:solidFill>
        </p:spPr>
        <p:txBody>
          <a:bodyPr wrap="square" rtlCol="0">
            <a:spAutoFit/>
          </a:bodyPr>
          <a:lstStyle/>
          <a:p>
            <a:r>
              <a:rPr lang="en-ZA" sz="1400" dirty="0"/>
              <a:t>Funding Type</a:t>
            </a:r>
          </a:p>
        </p:txBody>
      </p:sp>
    </p:spTree>
    <p:extLst>
      <p:ext uri="{BB962C8B-B14F-4D97-AF65-F5344CB8AC3E}">
        <p14:creationId xmlns:p14="http://schemas.microsoft.com/office/powerpoint/2010/main" val="3634224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E61CF84-BE49-E5E8-80EB-63B4B1375FAA}"/>
              </a:ext>
            </a:extLst>
          </p:cNvPr>
          <p:cNvPicPr>
            <a:picLocks noGrp="1" noChangeAspect="1"/>
          </p:cNvPicPr>
          <p:nvPr>
            <p:ph idx="1"/>
          </p:nvPr>
        </p:nvPicPr>
        <p:blipFill>
          <a:blip r:embed="rId2"/>
          <a:stretch>
            <a:fillRect/>
          </a:stretch>
        </p:blipFill>
        <p:spPr>
          <a:xfrm>
            <a:off x="345440" y="653811"/>
            <a:ext cx="11684000" cy="3101715"/>
          </a:xfrm>
        </p:spPr>
      </p:pic>
      <p:sp>
        <p:nvSpPr>
          <p:cNvPr id="6" name="TextBox 5">
            <a:extLst>
              <a:ext uri="{FF2B5EF4-FFF2-40B4-BE49-F238E27FC236}">
                <a16:creationId xmlns:a16="http://schemas.microsoft.com/office/drawing/2014/main" id="{C47A141C-362B-CDF7-D8DD-C9D92BEFEF73}"/>
              </a:ext>
            </a:extLst>
          </p:cNvPr>
          <p:cNvSpPr txBox="1"/>
          <p:nvPr/>
        </p:nvSpPr>
        <p:spPr>
          <a:xfrm>
            <a:off x="449306" y="284480"/>
            <a:ext cx="11397254" cy="369332"/>
          </a:xfrm>
          <a:prstGeom prst="rect">
            <a:avLst/>
          </a:prstGeom>
          <a:noFill/>
        </p:spPr>
        <p:txBody>
          <a:bodyPr wrap="square" rtlCol="0">
            <a:spAutoFit/>
          </a:bodyPr>
          <a:lstStyle/>
          <a:p>
            <a:r>
              <a:rPr lang="en-ZA" dirty="0"/>
              <a:t>On the Add ne WIP Project Screen, make provision for Bulk Upload of WIP Projects</a:t>
            </a:r>
          </a:p>
        </p:txBody>
      </p:sp>
      <p:pic>
        <p:nvPicPr>
          <p:cNvPr id="8" name="Picture 7">
            <a:extLst>
              <a:ext uri="{FF2B5EF4-FFF2-40B4-BE49-F238E27FC236}">
                <a16:creationId xmlns:a16="http://schemas.microsoft.com/office/drawing/2014/main" id="{A7FF6965-4CE4-FA8C-84E2-D19563DEB736}"/>
              </a:ext>
            </a:extLst>
          </p:cNvPr>
          <p:cNvPicPr>
            <a:picLocks noChangeAspect="1"/>
          </p:cNvPicPr>
          <p:nvPr/>
        </p:nvPicPr>
        <p:blipFill>
          <a:blip r:embed="rId3"/>
          <a:stretch>
            <a:fillRect/>
          </a:stretch>
        </p:blipFill>
        <p:spPr>
          <a:xfrm>
            <a:off x="7545823" y="2525899"/>
            <a:ext cx="2568158" cy="602890"/>
          </a:xfrm>
          <a:prstGeom prst="rect">
            <a:avLst/>
          </a:prstGeom>
        </p:spPr>
      </p:pic>
      <p:sp>
        <p:nvSpPr>
          <p:cNvPr id="9" name="TextBox 8">
            <a:extLst>
              <a:ext uri="{FF2B5EF4-FFF2-40B4-BE49-F238E27FC236}">
                <a16:creationId xmlns:a16="http://schemas.microsoft.com/office/drawing/2014/main" id="{C0E583C5-1762-3F36-5A89-7DC900F56B36}"/>
              </a:ext>
            </a:extLst>
          </p:cNvPr>
          <p:cNvSpPr txBox="1"/>
          <p:nvPr/>
        </p:nvSpPr>
        <p:spPr>
          <a:xfrm>
            <a:off x="7669869" y="2673455"/>
            <a:ext cx="2320066" cy="307777"/>
          </a:xfrm>
          <a:prstGeom prst="rect">
            <a:avLst/>
          </a:prstGeom>
          <a:solidFill>
            <a:schemeClr val="bg1">
              <a:lumMod val="95000"/>
            </a:schemeClr>
          </a:solidFill>
        </p:spPr>
        <p:txBody>
          <a:bodyPr wrap="square" rtlCol="0">
            <a:spAutoFit/>
          </a:bodyPr>
          <a:lstStyle/>
          <a:p>
            <a:r>
              <a:rPr lang="en-ZA" sz="1400" dirty="0"/>
              <a:t>Bulk Upload – WIP Projects</a:t>
            </a:r>
          </a:p>
        </p:txBody>
      </p:sp>
      <p:pic>
        <p:nvPicPr>
          <p:cNvPr id="11" name="Picture 10">
            <a:extLst>
              <a:ext uri="{FF2B5EF4-FFF2-40B4-BE49-F238E27FC236}">
                <a16:creationId xmlns:a16="http://schemas.microsoft.com/office/drawing/2014/main" id="{3741B345-168D-5E55-96A5-D5051DEADBD7}"/>
              </a:ext>
            </a:extLst>
          </p:cNvPr>
          <p:cNvPicPr>
            <a:picLocks noChangeAspect="1"/>
          </p:cNvPicPr>
          <p:nvPr/>
        </p:nvPicPr>
        <p:blipFill>
          <a:blip r:embed="rId4"/>
          <a:stretch>
            <a:fillRect/>
          </a:stretch>
        </p:blipFill>
        <p:spPr>
          <a:xfrm>
            <a:off x="0" y="4660910"/>
            <a:ext cx="12192000" cy="1933406"/>
          </a:xfrm>
          <a:prstGeom prst="rect">
            <a:avLst/>
          </a:prstGeom>
        </p:spPr>
      </p:pic>
      <p:sp>
        <p:nvSpPr>
          <p:cNvPr id="12" name="TextBox 11">
            <a:extLst>
              <a:ext uri="{FF2B5EF4-FFF2-40B4-BE49-F238E27FC236}">
                <a16:creationId xmlns:a16="http://schemas.microsoft.com/office/drawing/2014/main" id="{70FC81DD-74CF-428A-FE33-8CE18E5A967F}"/>
              </a:ext>
            </a:extLst>
          </p:cNvPr>
          <p:cNvSpPr txBox="1"/>
          <p:nvPr/>
        </p:nvSpPr>
        <p:spPr>
          <a:xfrm>
            <a:off x="182880" y="4033520"/>
            <a:ext cx="11684000" cy="369332"/>
          </a:xfrm>
          <a:prstGeom prst="rect">
            <a:avLst/>
          </a:prstGeom>
          <a:noFill/>
        </p:spPr>
        <p:txBody>
          <a:bodyPr wrap="square" rtlCol="0">
            <a:spAutoFit/>
          </a:bodyPr>
          <a:lstStyle/>
          <a:p>
            <a:r>
              <a:rPr lang="en-ZA" dirty="0"/>
              <a:t>When the User select the Bulk Upload – WIP Projects, the following screen must display.</a:t>
            </a:r>
          </a:p>
        </p:txBody>
      </p:sp>
      <p:pic>
        <p:nvPicPr>
          <p:cNvPr id="14" name="Picture 13">
            <a:extLst>
              <a:ext uri="{FF2B5EF4-FFF2-40B4-BE49-F238E27FC236}">
                <a16:creationId xmlns:a16="http://schemas.microsoft.com/office/drawing/2014/main" id="{3A258672-0E8A-A6E5-4E26-ECBDE076EA27}"/>
              </a:ext>
            </a:extLst>
          </p:cNvPr>
          <p:cNvPicPr>
            <a:picLocks noChangeAspect="1"/>
          </p:cNvPicPr>
          <p:nvPr/>
        </p:nvPicPr>
        <p:blipFill>
          <a:blip r:embed="rId5"/>
          <a:stretch>
            <a:fillRect/>
          </a:stretch>
        </p:blipFill>
        <p:spPr>
          <a:xfrm>
            <a:off x="345440" y="6106730"/>
            <a:ext cx="1943371" cy="466790"/>
          </a:xfrm>
          <a:prstGeom prst="rect">
            <a:avLst/>
          </a:prstGeom>
        </p:spPr>
      </p:pic>
      <p:pic>
        <p:nvPicPr>
          <p:cNvPr id="16" name="Picture 15">
            <a:extLst>
              <a:ext uri="{FF2B5EF4-FFF2-40B4-BE49-F238E27FC236}">
                <a16:creationId xmlns:a16="http://schemas.microsoft.com/office/drawing/2014/main" id="{F2941C6D-845E-3325-E5B2-FE6EE9083287}"/>
              </a:ext>
            </a:extLst>
          </p:cNvPr>
          <p:cNvPicPr>
            <a:picLocks noChangeAspect="1"/>
          </p:cNvPicPr>
          <p:nvPr/>
        </p:nvPicPr>
        <p:blipFill>
          <a:blip r:embed="rId6"/>
          <a:stretch>
            <a:fillRect/>
          </a:stretch>
        </p:blipFill>
        <p:spPr>
          <a:xfrm>
            <a:off x="2288811" y="6106730"/>
            <a:ext cx="2419688" cy="381053"/>
          </a:xfrm>
          <a:prstGeom prst="rect">
            <a:avLst/>
          </a:prstGeom>
        </p:spPr>
      </p:pic>
      <p:sp>
        <p:nvSpPr>
          <p:cNvPr id="17" name="TextBox 16">
            <a:extLst>
              <a:ext uri="{FF2B5EF4-FFF2-40B4-BE49-F238E27FC236}">
                <a16:creationId xmlns:a16="http://schemas.microsoft.com/office/drawing/2014/main" id="{05B7B08F-2E68-F174-0666-802F8FA64B06}"/>
              </a:ext>
            </a:extLst>
          </p:cNvPr>
          <p:cNvSpPr txBox="1"/>
          <p:nvPr/>
        </p:nvSpPr>
        <p:spPr>
          <a:xfrm>
            <a:off x="5720080" y="6339840"/>
            <a:ext cx="2783840" cy="276999"/>
          </a:xfrm>
          <a:prstGeom prst="rect">
            <a:avLst/>
          </a:prstGeom>
          <a:solidFill>
            <a:schemeClr val="bg1"/>
          </a:solidFill>
        </p:spPr>
        <p:txBody>
          <a:bodyPr wrap="square" rtlCol="0">
            <a:spAutoFit/>
          </a:bodyPr>
          <a:lstStyle/>
          <a:p>
            <a:r>
              <a:rPr lang="en-ZA" sz="1200" dirty="0"/>
              <a:t>WIP Projects CSV File</a:t>
            </a:r>
          </a:p>
        </p:txBody>
      </p:sp>
      <p:pic>
        <p:nvPicPr>
          <p:cNvPr id="19" name="Picture 18">
            <a:extLst>
              <a:ext uri="{FF2B5EF4-FFF2-40B4-BE49-F238E27FC236}">
                <a16:creationId xmlns:a16="http://schemas.microsoft.com/office/drawing/2014/main" id="{430AA6F9-B34D-8BFF-F945-6518101EA481}"/>
              </a:ext>
            </a:extLst>
          </p:cNvPr>
          <p:cNvPicPr>
            <a:picLocks noChangeAspect="1"/>
          </p:cNvPicPr>
          <p:nvPr/>
        </p:nvPicPr>
        <p:blipFill>
          <a:blip r:embed="rId7"/>
          <a:stretch>
            <a:fillRect/>
          </a:stretch>
        </p:blipFill>
        <p:spPr>
          <a:xfrm>
            <a:off x="246675" y="5500896"/>
            <a:ext cx="4486901" cy="391300"/>
          </a:xfrm>
          <a:prstGeom prst="rect">
            <a:avLst/>
          </a:prstGeom>
        </p:spPr>
      </p:pic>
      <p:sp>
        <p:nvSpPr>
          <p:cNvPr id="20" name="TextBox 19">
            <a:extLst>
              <a:ext uri="{FF2B5EF4-FFF2-40B4-BE49-F238E27FC236}">
                <a16:creationId xmlns:a16="http://schemas.microsoft.com/office/drawing/2014/main" id="{4A8B00FD-B368-EF1C-6212-0A282C5798A5}"/>
              </a:ext>
            </a:extLst>
          </p:cNvPr>
          <p:cNvSpPr txBox="1"/>
          <p:nvPr/>
        </p:nvSpPr>
        <p:spPr>
          <a:xfrm>
            <a:off x="246675" y="5537798"/>
            <a:ext cx="5004391" cy="307777"/>
          </a:xfrm>
          <a:prstGeom prst="rect">
            <a:avLst/>
          </a:prstGeom>
          <a:noFill/>
        </p:spPr>
        <p:txBody>
          <a:bodyPr wrap="square" rtlCol="0">
            <a:spAutoFit/>
          </a:bodyPr>
          <a:lstStyle/>
          <a:p>
            <a:r>
              <a:rPr lang="en-ZA" sz="1400" dirty="0">
                <a:solidFill>
                  <a:schemeClr val="bg1"/>
                </a:solidFill>
              </a:rPr>
              <a:t>Download Template to populate WIP Register </a:t>
            </a:r>
          </a:p>
        </p:txBody>
      </p:sp>
    </p:spTree>
    <p:extLst>
      <p:ext uri="{BB962C8B-B14F-4D97-AF65-F5344CB8AC3E}">
        <p14:creationId xmlns:p14="http://schemas.microsoft.com/office/powerpoint/2010/main" val="2443277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E260948-0810-5F68-3B31-7C66A88F15A7}"/>
              </a:ext>
            </a:extLst>
          </p:cNvPr>
          <p:cNvPicPr>
            <a:picLocks noChangeAspect="1"/>
          </p:cNvPicPr>
          <p:nvPr/>
        </p:nvPicPr>
        <p:blipFill>
          <a:blip r:embed="rId2"/>
          <a:stretch>
            <a:fillRect/>
          </a:stretch>
        </p:blipFill>
        <p:spPr>
          <a:xfrm>
            <a:off x="241712" y="282523"/>
            <a:ext cx="7306695" cy="3400900"/>
          </a:xfrm>
          <a:prstGeom prst="rect">
            <a:avLst/>
          </a:prstGeom>
        </p:spPr>
      </p:pic>
      <p:sp>
        <p:nvSpPr>
          <p:cNvPr id="6" name="TextBox 5">
            <a:extLst>
              <a:ext uri="{FF2B5EF4-FFF2-40B4-BE49-F238E27FC236}">
                <a16:creationId xmlns:a16="http://schemas.microsoft.com/office/drawing/2014/main" id="{C12A6075-58C6-B52C-AF5C-67EA71288053}"/>
              </a:ext>
            </a:extLst>
          </p:cNvPr>
          <p:cNvSpPr txBox="1"/>
          <p:nvPr/>
        </p:nvSpPr>
        <p:spPr>
          <a:xfrm>
            <a:off x="241712" y="4053840"/>
            <a:ext cx="11470640" cy="2585323"/>
          </a:xfrm>
          <a:prstGeom prst="rect">
            <a:avLst/>
          </a:prstGeom>
          <a:noFill/>
        </p:spPr>
        <p:txBody>
          <a:bodyPr wrap="square" rtlCol="0">
            <a:spAutoFit/>
          </a:bodyPr>
          <a:lstStyle/>
          <a:p>
            <a:r>
              <a:rPr lang="en-ZA" dirty="0"/>
              <a:t>When the user select the Radio Button, the system must allow the user to browse for the upload file on his/her computer.  </a:t>
            </a:r>
          </a:p>
          <a:p>
            <a:endParaRPr lang="en-ZA" dirty="0"/>
          </a:p>
          <a:p>
            <a:r>
              <a:rPr lang="en-ZA" dirty="0"/>
              <a:t>If the file was successfully loaded, the system must validate against the same rules as per the WIP register. If the system picks up any issues with the upload file, the system must display in a grid below the issues per line ITEM – refer to the normal take on sheet validation screen.</a:t>
            </a:r>
          </a:p>
          <a:p>
            <a:endParaRPr lang="en-ZA" dirty="0"/>
          </a:p>
          <a:p>
            <a:r>
              <a:rPr lang="en-ZA" dirty="0"/>
              <a:t>If there is no validations and the data was loaded to the WIP register – the system must display a message that the data was loaded successfully to the WIP register.</a:t>
            </a:r>
          </a:p>
        </p:txBody>
      </p:sp>
      <p:pic>
        <p:nvPicPr>
          <p:cNvPr id="8" name="Picture 7">
            <a:extLst>
              <a:ext uri="{FF2B5EF4-FFF2-40B4-BE49-F238E27FC236}">
                <a16:creationId xmlns:a16="http://schemas.microsoft.com/office/drawing/2014/main" id="{D7E43B68-85DC-5349-1714-A9E92AA44A2A}"/>
              </a:ext>
            </a:extLst>
          </p:cNvPr>
          <p:cNvPicPr>
            <a:picLocks noChangeAspect="1"/>
          </p:cNvPicPr>
          <p:nvPr/>
        </p:nvPicPr>
        <p:blipFill>
          <a:blip r:embed="rId3"/>
          <a:stretch>
            <a:fillRect/>
          </a:stretch>
        </p:blipFill>
        <p:spPr>
          <a:xfrm>
            <a:off x="7818431" y="654388"/>
            <a:ext cx="4373569" cy="2378795"/>
          </a:xfrm>
          <a:prstGeom prst="rect">
            <a:avLst/>
          </a:prstGeom>
        </p:spPr>
      </p:pic>
    </p:spTree>
    <p:extLst>
      <p:ext uri="{BB962C8B-B14F-4D97-AF65-F5344CB8AC3E}">
        <p14:creationId xmlns:p14="http://schemas.microsoft.com/office/powerpoint/2010/main" val="552740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4976</TotalTime>
  <Words>1364</Words>
  <Application>Microsoft Office PowerPoint</Application>
  <PresentationFormat>Widescreen</PresentationFormat>
  <Paragraphs>171</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Aptos Display</vt:lpstr>
      <vt:lpstr>Arial</vt:lpstr>
      <vt:lpstr>Office Theme</vt:lpstr>
      <vt:lpstr>PowerPoint Presentation</vt:lpstr>
      <vt:lpstr>WIP</vt:lpstr>
      <vt:lpstr>WIP</vt:lpstr>
      <vt:lpstr>PowerPoint Presentation</vt:lpstr>
      <vt:lpstr>WIP – Create WIP Register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Alta Coetzee</dc:creator>
  <cp:lastModifiedBy>Alta Coetzee</cp:lastModifiedBy>
  <cp:revision>7</cp:revision>
  <dcterms:created xsi:type="dcterms:W3CDTF">2025-05-27T06:57:05Z</dcterms:created>
  <dcterms:modified xsi:type="dcterms:W3CDTF">2025-06-09T07:42:22Z</dcterms:modified>
</cp:coreProperties>
</file>